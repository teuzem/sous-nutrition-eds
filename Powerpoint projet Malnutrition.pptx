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22"/>
  </p:notesMasterIdLst>
  <p:sldIdLst>
    <p:sldId id="256" r:id="rId2"/>
    <p:sldId id="257" r:id="rId3"/>
    <p:sldId id="270" r:id="rId4"/>
    <p:sldId id="283" r:id="rId5"/>
    <p:sldId id="280" r:id="rId6"/>
    <p:sldId id="276" r:id="rId7"/>
    <p:sldId id="277" r:id="rId8"/>
    <p:sldId id="281" r:id="rId9"/>
    <p:sldId id="286" r:id="rId10"/>
    <p:sldId id="287" r:id="rId11"/>
    <p:sldId id="288" r:id="rId12"/>
    <p:sldId id="289" r:id="rId13"/>
    <p:sldId id="273" r:id="rId14"/>
    <p:sldId id="290" r:id="rId15"/>
    <p:sldId id="291" r:id="rId16"/>
    <p:sldId id="279" r:id="rId17"/>
    <p:sldId id="292" r:id="rId18"/>
    <p:sldId id="294" r:id="rId19"/>
    <p:sldId id="293" r:id="rId20"/>
    <p:sldId id="27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5" autoAdjust="0"/>
    <p:restoredTop sz="94660"/>
  </p:normalViewPr>
  <p:slideViewPr>
    <p:cSldViewPr snapToGrid="0">
      <p:cViewPr varScale="1">
        <p:scale>
          <a:sx n="59" d="100"/>
          <a:sy n="59" d="100"/>
        </p:scale>
        <p:origin x="96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space réservé de l'en-tête 1"/>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endParaRPr lang="fr-FR"/>
          </a:p>
        </p:txBody>
      </p:sp>
      <p:sp>
        <p:nvSpPr>
          <p:cNvPr id="3" name="Espace réservé de la date 2"/>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fld id="{44FA0F72-8342-4E38-8BD7-90922377438C}" type="datetime1">
              <a:rPr lang="fr-FR"/>
              <a:pPr lvl="0"/>
              <a:t>13/06/2026</a:t>
            </a:fld>
            <a:endParaRPr lang="fr-FR"/>
          </a:p>
        </p:txBody>
      </p:sp>
      <p:sp>
        <p:nvSpPr>
          <p:cNvPr id="4" name="Espace réservé de l'image des diapositives 3"/>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txBody>
          <a:bodyPr/>
          <a:lstStyle/>
          <a:p>
            <a:endParaRPr lang="fr-FR"/>
          </a:p>
        </p:txBody>
      </p:sp>
      <p:sp>
        <p:nvSpPr>
          <p:cNvPr id="5" name="Espace réservé des notes 4"/>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endParaRPr lang="fr-FR"/>
          </a:p>
        </p:txBody>
      </p:sp>
      <p:sp>
        <p:nvSpPr>
          <p:cNvPr id="7" name="Espace réservé du numéro de diapositive 6"/>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fld id="{671528B3-3A4B-4E2A-8514-80EC662F5B4C}" type="slidenum">
              <a:t>‹#›</a:t>
            </a:fld>
            <a:endParaRPr lang="fr-FR"/>
          </a:p>
        </p:txBody>
      </p:sp>
    </p:spTree>
    <p:extLst>
      <p:ext uri="{BB962C8B-B14F-4D97-AF65-F5344CB8AC3E}">
        <p14:creationId xmlns:p14="http://schemas.microsoft.com/office/powerpoint/2010/main" val="690086886"/>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txBody>
          <a:bodyPr/>
          <a:lstStyle/>
          <a:p>
            <a:endParaRPr lang="fr-FR"/>
          </a:p>
        </p:txBody>
      </p:sp>
      <p:sp>
        <p:nvSpPr>
          <p:cNvPr id="3" name="Espace réservé des notes 2"/>
          <p:cNvSpPr>
            <a:spLocks noGrp="1"/>
          </p:cNvSpPr>
          <p:nvPr>
            <p:ph type="body" idx="1"/>
          </p:nvPr>
        </p:nvSpPr>
        <p:spPr/>
        <p:txBody>
          <a:bodyPr/>
          <a:lstStyle/>
          <a:p>
            <a:endParaRPr lang="fr-CM" dirty="0"/>
          </a:p>
        </p:txBody>
      </p:sp>
      <p:sp>
        <p:nvSpPr>
          <p:cNvPr id="4" name="Espace réservé du numéro de diapositive 3"/>
          <p:cNvSpPr>
            <a:spLocks noGrp="1"/>
          </p:cNvSpPr>
          <p:nvPr>
            <p:ph type="sldNum" sz="quarter" idx="10"/>
          </p:nvPr>
        </p:nvSpPr>
        <p:spPr/>
        <p:txBody>
          <a:bodyPr/>
          <a:lstStyle/>
          <a:p>
            <a:pPr lvl="0"/>
            <a:fld id="{671528B3-3A4B-4E2A-8514-80EC662F5B4C}" type="slidenum">
              <a:rPr lang="fr-CM" smtClean="0"/>
              <a:t>1</a:t>
            </a:fld>
            <a:endParaRPr lang="fr-CM"/>
          </a:p>
        </p:txBody>
      </p:sp>
    </p:spTree>
    <p:extLst>
      <p:ext uri="{BB962C8B-B14F-4D97-AF65-F5344CB8AC3E}">
        <p14:creationId xmlns:p14="http://schemas.microsoft.com/office/powerpoint/2010/main" val="1441924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pPr lvl="0"/>
            <a:fld id="{671528B3-3A4B-4E2A-8514-80EC662F5B4C}" type="slidenum">
              <a:rPr lang="fr-FR" smtClean="0"/>
              <a:t>6</a:t>
            </a:fld>
            <a:endParaRPr lang="fr-FR"/>
          </a:p>
        </p:txBody>
      </p:sp>
    </p:spTree>
    <p:extLst>
      <p:ext uri="{BB962C8B-B14F-4D97-AF65-F5344CB8AC3E}">
        <p14:creationId xmlns:p14="http://schemas.microsoft.com/office/powerpoint/2010/main" val="145318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p>
            <a:pPr lvl="0"/>
            <a:fld id="{7CEF97FE-19F8-4D0D-B937-743C72C2EAA5}" type="datetime1">
              <a:rPr lang="fr-FR" smtClean="0"/>
              <a:pPr lvl="0"/>
              <a:t>13/06/2026</a:t>
            </a:fld>
            <a:endParaRPr lang="fr-FR"/>
          </a:p>
        </p:txBody>
      </p:sp>
      <p:sp>
        <p:nvSpPr>
          <p:cNvPr id="5" name="Footer Placeholder 4"/>
          <p:cNvSpPr>
            <a:spLocks noGrp="1"/>
          </p:cNvSpPr>
          <p:nvPr>
            <p:ph type="ftr" sz="quarter" idx="11"/>
          </p:nvPr>
        </p:nvSpPr>
        <p:spPr/>
        <p:txBody>
          <a:bodyPr/>
          <a:lstStyle/>
          <a:p>
            <a:pPr lvl="0"/>
            <a:endParaRPr lang="fr-FR"/>
          </a:p>
        </p:txBody>
      </p:sp>
      <p:sp>
        <p:nvSpPr>
          <p:cNvPr id="6" name="Slide Number Placeholder 5"/>
          <p:cNvSpPr>
            <a:spLocks noGrp="1"/>
          </p:cNvSpPr>
          <p:nvPr>
            <p:ph type="sldNum" sz="quarter" idx="12"/>
          </p:nvPr>
        </p:nvSpPr>
        <p:spPr/>
        <p:txBody>
          <a:bodyPr/>
          <a:lstStyle/>
          <a:p>
            <a:pPr lvl="0"/>
            <a:fld id="{2626CD86-0941-45D5-A749-BA1968B6B83A}" type="slidenum">
              <a:rPr lang="fr-CM" smtClean="0"/>
              <a:t>‹#›</a:t>
            </a:fld>
            <a:endParaRPr lang="fr-CM"/>
          </a:p>
        </p:txBody>
      </p:sp>
    </p:spTree>
    <p:extLst>
      <p:ext uri="{BB962C8B-B14F-4D97-AF65-F5344CB8AC3E}">
        <p14:creationId xmlns:p14="http://schemas.microsoft.com/office/powerpoint/2010/main" val="81493971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pPr lvl="0"/>
            <a:fld id="{D7467E62-BD24-4E04-9D4D-09F06B645E2B}" type="datetime1">
              <a:rPr lang="fr-FR" smtClean="0"/>
              <a:pPr lvl="0"/>
              <a:t>13/06/2026</a:t>
            </a:fld>
            <a:endParaRPr lang="fr-FR"/>
          </a:p>
        </p:txBody>
      </p:sp>
      <p:sp>
        <p:nvSpPr>
          <p:cNvPr id="5" name="Footer Placeholder 4"/>
          <p:cNvSpPr>
            <a:spLocks noGrp="1"/>
          </p:cNvSpPr>
          <p:nvPr>
            <p:ph type="ftr" sz="quarter" idx="11"/>
          </p:nvPr>
        </p:nvSpPr>
        <p:spPr/>
        <p:txBody>
          <a:bodyPr/>
          <a:lstStyle/>
          <a:p>
            <a:pPr lvl="0"/>
            <a:endParaRPr lang="fr-FR"/>
          </a:p>
        </p:txBody>
      </p:sp>
      <p:sp>
        <p:nvSpPr>
          <p:cNvPr id="6" name="Slide Number Placeholder 5"/>
          <p:cNvSpPr>
            <a:spLocks noGrp="1"/>
          </p:cNvSpPr>
          <p:nvPr>
            <p:ph type="sldNum" sz="quarter" idx="12"/>
          </p:nvPr>
        </p:nvSpPr>
        <p:spPr/>
        <p:txBody>
          <a:bodyPr/>
          <a:lstStyle/>
          <a:p>
            <a:pPr lvl="0"/>
            <a:fld id="{127CE1BA-A982-40AB-9550-F44CB9BB0F70}" type="slidenum">
              <a:rPr lang="fr-CM" smtClean="0"/>
              <a:t>‹#›</a:t>
            </a:fld>
            <a:endParaRPr lang="fr-CM"/>
          </a:p>
        </p:txBody>
      </p:sp>
    </p:spTree>
    <p:extLst>
      <p:ext uri="{BB962C8B-B14F-4D97-AF65-F5344CB8AC3E}">
        <p14:creationId xmlns:p14="http://schemas.microsoft.com/office/powerpoint/2010/main" val="4231190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pPr lvl="0"/>
            <a:fld id="{48C6F782-B057-421D-8C85-6A8181D9DE9E}" type="datetime1">
              <a:rPr lang="fr-FR" smtClean="0"/>
              <a:pPr lvl="0"/>
              <a:t>13/06/2026</a:t>
            </a:fld>
            <a:endParaRPr lang="fr-FR"/>
          </a:p>
        </p:txBody>
      </p:sp>
      <p:sp>
        <p:nvSpPr>
          <p:cNvPr id="5" name="Footer Placeholder 4"/>
          <p:cNvSpPr>
            <a:spLocks noGrp="1"/>
          </p:cNvSpPr>
          <p:nvPr>
            <p:ph type="ftr" sz="quarter" idx="11"/>
          </p:nvPr>
        </p:nvSpPr>
        <p:spPr/>
        <p:txBody>
          <a:bodyPr/>
          <a:lstStyle/>
          <a:p>
            <a:pPr lvl="0"/>
            <a:endParaRPr lang="fr-FR"/>
          </a:p>
        </p:txBody>
      </p:sp>
      <p:sp>
        <p:nvSpPr>
          <p:cNvPr id="6" name="Slide Number Placeholder 5"/>
          <p:cNvSpPr>
            <a:spLocks noGrp="1"/>
          </p:cNvSpPr>
          <p:nvPr>
            <p:ph type="sldNum" sz="quarter" idx="12"/>
          </p:nvPr>
        </p:nvSpPr>
        <p:spPr/>
        <p:txBody>
          <a:bodyPr/>
          <a:lstStyle/>
          <a:p>
            <a:pPr lvl="0"/>
            <a:fld id="{3536079E-1806-4DE0-BFF5-AC0E1EA8E17B}" type="slidenum">
              <a:rPr lang="fr-CM" smtClean="0"/>
              <a:t>‹#›</a:t>
            </a:fld>
            <a:endParaRPr lang="fr-CM"/>
          </a:p>
        </p:txBody>
      </p:sp>
    </p:spTree>
    <p:extLst>
      <p:ext uri="{BB962C8B-B14F-4D97-AF65-F5344CB8AC3E}">
        <p14:creationId xmlns:p14="http://schemas.microsoft.com/office/powerpoint/2010/main" val="290640971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pPr lvl="0"/>
            <a:fld id="{3D8C7F76-9D19-4B46-8739-CCD8B779E739}" type="datetime1">
              <a:rPr lang="fr-FR" smtClean="0"/>
              <a:pPr lvl="0"/>
              <a:t>13/06/2026</a:t>
            </a:fld>
            <a:endParaRPr lang="fr-FR"/>
          </a:p>
        </p:txBody>
      </p:sp>
      <p:sp>
        <p:nvSpPr>
          <p:cNvPr id="6" name="Footer Placeholder 5"/>
          <p:cNvSpPr>
            <a:spLocks noGrp="1"/>
          </p:cNvSpPr>
          <p:nvPr>
            <p:ph type="ftr" sz="quarter" idx="11"/>
          </p:nvPr>
        </p:nvSpPr>
        <p:spPr/>
        <p:txBody>
          <a:bodyPr/>
          <a:lstStyle/>
          <a:p>
            <a:pPr lvl="0"/>
            <a:endParaRPr lang="fr-FR"/>
          </a:p>
        </p:txBody>
      </p:sp>
      <p:sp>
        <p:nvSpPr>
          <p:cNvPr id="7" name="Slide Number Placeholder 6"/>
          <p:cNvSpPr>
            <a:spLocks noGrp="1"/>
          </p:cNvSpPr>
          <p:nvPr>
            <p:ph type="sldNum" sz="quarter" idx="12"/>
          </p:nvPr>
        </p:nvSpPr>
        <p:spPr/>
        <p:txBody>
          <a:bodyPr/>
          <a:lstStyle/>
          <a:p>
            <a:pPr lvl="0"/>
            <a:fld id="{3627423C-23CF-4118-BFFA-D86E466C2ED8}" type="slidenum">
              <a:rPr lang="fr-CM" smtClean="0"/>
              <a:t>‹#›</a:t>
            </a:fld>
            <a:endParaRPr lang="fr-CM"/>
          </a:p>
        </p:txBody>
      </p:sp>
    </p:spTree>
    <p:extLst>
      <p:ext uri="{BB962C8B-B14F-4D97-AF65-F5344CB8AC3E}">
        <p14:creationId xmlns:p14="http://schemas.microsoft.com/office/powerpoint/2010/main" val="3841720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pPr lvl="0"/>
            <a:fld id="{0ABA589B-E56B-429A-9BF2-6C86F9DE3E50}" type="datetime1">
              <a:rPr lang="fr-FR" smtClean="0"/>
              <a:pPr lvl="0"/>
              <a:t>13/06/2026</a:t>
            </a:fld>
            <a:endParaRPr lang="fr-FR"/>
          </a:p>
        </p:txBody>
      </p:sp>
      <p:sp>
        <p:nvSpPr>
          <p:cNvPr id="8" name="Footer Placeholder 7"/>
          <p:cNvSpPr>
            <a:spLocks noGrp="1"/>
          </p:cNvSpPr>
          <p:nvPr>
            <p:ph type="ftr" sz="quarter" idx="11"/>
          </p:nvPr>
        </p:nvSpPr>
        <p:spPr/>
        <p:txBody>
          <a:bodyPr/>
          <a:lstStyle/>
          <a:p>
            <a:pPr lvl="0"/>
            <a:endParaRPr lang="fr-FR"/>
          </a:p>
        </p:txBody>
      </p:sp>
      <p:sp>
        <p:nvSpPr>
          <p:cNvPr id="9" name="Slide Number Placeholder 8"/>
          <p:cNvSpPr>
            <a:spLocks noGrp="1"/>
          </p:cNvSpPr>
          <p:nvPr>
            <p:ph type="sldNum" sz="quarter" idx="12"/>
          </p:nvPr>
        </p:nvSpPr>
        <p:spPr/>
        <p:txBody>
          <a:bodyPr/>
          <a:lstStyle/>
          <a:p>
            <a:pPr lvl="0"/>
            <a:fld id="{0563E0FD-A74B-4B74-B134-85BB7959BA0E}" type="slidenum">
              <a:rPr lang="fr-CM" smtClean="0"/>
              <a:t>‹#›</a:t>
            </a:fld>
            <a:endParaRPr lang="fr-CM"/>
          </a:p>
        </p:txBody>
      </p:sp>
    </p:spTree>
    <p:extLst>
      <p:ext uri="{BB962C8B-B14F-4D97-AF65-F5344CB8AC3E}">
        <p14:creationId xmlns:p14="http://schemas.microsoft.com/office/powerpoint/2010/main" val="3511176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pPr lvl="0"/>
            <a:fld id="{B6F23EFE-5206-497F-BC1C-0F6596F18FF8}" type="datetime1">
              <a:rPr lang="fr-FR" smtClean="0"/>
              <a:pPr lvl="0"/>
              <a:t>13/06/2026</a:t>
            </a:fld>
            <a:endParaRPr lang="fr-FR"/>
          </a:p>
        </p:txBody>
      </p:sp>
      <p:sp>
        <p:nvSpPr>
          <p:cNvPr id="4" name="Footer Placeholder 3"/>
          <p:cNvSpPr>
            <a:spLocks noGrp="1"/>
          </p:cNvSpPr>
          <p:nvPr>
            <p:ph type="ftr" sz="quarter" idx="11"/>
          </p:nvPr>
        </p:nvSpPr>
        <p:spPr/>
        <p:txBody>
          <a:bodyPr/>
          <a:lstStyle/>
          <a:p>
            <a:pPr lvl="0"/>
            <a:endParaRPr lang="fr-FR"/>
          </a:p>
        </p:txBody>
      </p:sp>
      <p:sp>
        <p:nvSpPr>
          <p:cNvPr id="5" name="Slide Number Placeholder 4"/>
          <p:cNvSpPr>
            <a:spLocks noGrp="1"/>
          </p:cNvSpPr>
          <p:nvPr>
            <p:ph type="sldNum" sz="quarter" idx="12"/>
          </p:nvPr>
        </p:nvSpPr>
        <p:spPr/>
        <p:txBody>
          <a:bodyPr/>
          <a:lstStyle/>
          <a:p>
            <a:pPr lvl="0"/>
            <a:fld id="{4C999B81-502F-4386-B9EC-E54468469EFD}" type="slidenum">
              <a:rPr lang="fr-CM" smtClean="0"/>
              <a:t>‹#›</a:t>
            </a:fld>
            <a:endParaRPr lang="fr-CM"/>
          </a:p>
        </p:txBody>
      </p:sp>
    </p:spTree>
    <p:extLst>
      <p:ext uri="{BB962C8B-B14F-4D97-AF65-F5344CB8AC3E}">
        <p14:creationId xmlns:p14="http://schemas.microsoft.com/office/powerpoint/2010/main" val="2480464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4B3A6A89-02D9-4910-842E-A04D1FB6D157}" type="datetime1">
              <a:rPr lang="fr-FR" smtClean="0"/>
              <a:pPr lvl="0"/>
              <a:t>13/06/2026</a:t>
            </a:fld>
            <a:endParaRPr lang="fr-FR"/>
          </a:p>
        </p:txBody>
      </p:sp>
      <p:sp>
        <p:nvSpPr>
          <p:cNvPr id="3" name="Footer Placeholder 2"/>
          <p:cNvSpPr>
            <a:spLocks noGrp="1"/>
          </p:cNvSpPr>
          <p:nvPr>
            <p:ph type="ftr" sz="quarter" idx="11"/>
          </p:nvPr>
        </p:nvSpPr>
        <p:spPr/>
        <p:txBody>
          <a:bodyPr/>
          <a:lstStyle/>
          <a:p>
            <a:pPr lvl="0"/>
            <a:endParaRPr lang="fr-FR"/>
          </a:p>
        </p:txBody>
      </p:sp>
      <p:sp>
        <p:nvSpPr>
          <p:cNvPr id="4" name="Slide Number Placeholder 3"/>
          <p:cNvSpPr>
            <a:spLocks noGrp="1"/>
          </p:cNvSpPr>
          <p:nvPr>
            <p:ph type="sldNum" sz="quarter" idx="12"/>
          </p:nvPr>
        </p:nvSpPr>
        <p:spPr/>
        <p:txBody>
          <a:bodyPr/>
          <a:lstStyle/>
          <a:p>
            <a:pPr lvl="0"/>
            <a:fld id="{9BAB3556-77CB-4226-AE2B-7AA79453CFEA}" type="slidenum">
              <a:rPr lang="fr-CM" smtClean="0"/>
              <a:t>‹#›</a:t>
            </a:fld>
            <a:endParaRPr lang="fr-CM"/>
          </a:p>
        </p:txBody>
      </p:sp>
    </p:spTree>
    <p:extLst>
      <p:ext uri="{BB962C8B-B14F-4D97-AF65-F5344CB8AC3E}">
        <p14:creationId xmlns:p14="http://schemas.microsoft.com/office/powerpoint/2010/main" val="710017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pPr lvl="0"/>
            <a:fld id="{50FEECF3-D568-4641-9734-059DF742B6FC}" type="datetime1">
              <a:rPr lang="fr-FR" smtClean="0"/>
              <a:pPr lvl="0"/>
              <a:t>13/06/2026</a:t>
            </a:fld>
            <a:endParaRPr lang="fr-FR"/>
          </a:p>
        </p:txBody>
      </p:sp>
      <p:sp>
        <p:nvSpPr>
          <p:cNvPr id="6" name="Footer Placeholder 5"/>
          <p:cNvSpPr>
            <a:spLocks noGrp="1"/>
          </p:cNvSpPr>
          <p:nvPr>
            <p:ph type="ftr" sz="quarter" idx="11"/>
          </p:nvPr>
        </p:nvSpPr>
        <p:spPr/>
        <p:txBody>
          <a:bodyPr/>
          <a:lstStyle/>
          <a:p>
            <a:pPr lvl="0"/>
            <a:endParaRPr lang="fr-FR"/>
          </a:p>
        </p:txBody>
      </p:sp>
      <p:sp>
        <p:nvSpPr>
          <p:cNvPr id="7" name="Slide Number Placeholder 6"/>
          <p:cNvSpPr>
            <a:spLocks noGrp="1"/>
          </p:cNvSpPr>
          <p:nvPr>
            <p:ph type="sldNum" sz="quarter" idx="12"/>
          </p:nvPr>
        </p:nvSpPr>
        <p:spPr/>
        <p:txBody>
          <a:bodyPr/>
          <a:lstStyle/>
          <a:p>
            <a:pPr lvl="0"/>
            <a:fld id="{98C05456-ADC6-4581-AB3A-126E7B9A14D8}" type="slidenum">
              <a:rPr lang="fr-CM" smtClean="0"/>
              <a:t>‹#›</a:t>
            </a:fld>
            <a:endParaRPr lang="fr-CM"/>
          </a:p>
        </p:txBody>
      </p:sp>
    </p:spTree>
    <p:extLst>
      <p:ext uri="{BB962C8B-B14F-4D97-AF65-F5344CB8AC3E}">
        <p14:creationId xmlns:p14="http://schemas.microsoft.com/office/powerpoint/2010/main" val="227927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7B7C6C0F-23E6-4D9B-8A28-0530665AC26C}" type="slidenum">
              <a:rPr lang="fr-CM" smtClean="0"/>
              <a:t>‹#›</a:t>
            </a:fld>
            <a:endParaRPr lang="fr-CM"/>
          </a:p>
        </p:txBody>
      </p:sp>
      <p:sp>
        <p:nvSpPr>
          <p:cNvPr id="5" name="Date Placeholder 4"/>
          <p:cNvSpPr>
            <a:spLocks noGrp="1"/>
          </p:cNvSpPr>
          <p:nvPr>
            <p:ph type="dt" sz="half" idx="10"/>
          </p:nvPr>
        </p:nvSpPr>
        <p:spPr/>
        <p:txBody>
          <a:bodyPr/>
          <a:lstStyle/>
          <a:p>
            <a:pPr lvl="0"/>
            <a:fld id="{CDBEAD9B-8686-42DB-B6E1-DC8ED94CDF7D}" type="datetime1">
              <a:rPr lang="fr-FR" smtClean="0"/>
              <a:pPr lvl="0"/>
              <a:t>13/06/2026</a:t>
            </a:fld>
            <a:endParaRPr lang="fr-FR"/>
          </a:p>
        </p:txBody>
      </p:sp>
    </p:spTree>
    <p:extLst>
      <p:ext uri="{BB962C8B-B14F-4D97-AF65-F5344CB8AC3E}">
        <p14:creationId xmlns:p14="http://schemas.microsoft.com/office/powerpoint/2010/main" val="606291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pPr lvl="0"/>
            <a:fld id="{CF09D687-BFAF-453D-B47A-8E47FB3804A5}" type="datetime1">
              <a:rPr lang="fr-FR" smtClean="0"/>
              <a:pPr lvl="0"/>
              <a:t>13/06/2026</a:t>
            </a:fld>
            <a:endParaRPr lang="fr-FR"/>
          </a:p>
        </p:txBody>
      </p:sp>
      <p:sp>
        <p:nvSpPr>
          <p:cNvPr id="5" name="Footer Placeholder 4"/>
          <p:cNvSpPr>
            <a:spLocks noGrp="1"/>
          </p:cNvSpPr>
          <p:nvPr>
            <p:ph type="ftr" sz="quarter" idx="11"/>
          </p:nvPr>
        </p:nvSpPr>
        <p:spPr/>
        <p:txBody>
          <a:bodyPr/>
          <a:lstStyle/>
          <a:p>
            <a:pPr lvl="0"/>
            <a:endParaRPr lang="fr-FR"/>
          </a:p>
        </p:txBody>
      </p:sp>
      <p:sp>
        <p:nvSpPr>
          <p:cNvPr id="6" name="Slide Number Placeholder 5"/>
          <p:cNvSpPr>
            <a:spLocks noGrp="1"/>
          </p:cNvSpPr>
          <p:nvPr>
            <p:ph type="sldNum" sz="quarter" idx="12"/>
          </p:nvPr>
        </p:nvSpPr>
        <p:spPr/>
        <p:txBody>
          <a:bodyPr/>
          <a:lstStyle/>
          <a:p>
            <a:pPr lvl="0"/>
            <a:fld id="{04A150D1-E6F9-44E3-A8CB-B6A3C15E4852}" type="slidenum">
              <a:rPr lang="fr-CM" smtClean="0"/>
              <a:t>‹#›</a:t>
            </a:fld>
            <a:endParaRPr lang="fr-CM"/>
          </a:p>
        </p:txBody>
      </p:sp>
    </p:spTree>
    <p:extLst>
      <p:ext uri="{BB962C8B-B14F-4D97-AF65-F5344CB8AC3E}">
        <p14:creationId xmlns:p14="http://schemas.microsoft.com/office/powerpoint/2010/main" val="1790873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pPr lvl="0"/>
            <a:fld id="{3A911CB3-0F8D-4D2A-B388-523282C0217A}" type="datetime1">
              <a:rPr lang="fr-FR" smtClean="0"/>
              <a:pPr lvl="0"/>
              <a:t>13/06/2026</a:t>
            </a:fld>
            <a:endParaRPr lang="fr-FR"/>
          </a:p>
        </p:txBody>
      </p:sp>
      <p:sp>
        <p:nvSpPr>
          <p:cNvPr id="5" name="Footer Placeholder 4"/>
          <p:cNvSpPr>
            <a:spLocks noGrp="1"/>
          </p:cNvSpPr>
          <p:nvPr>
            <p:ph type="ftr" sz="quarter" idx="11"/>
          </p:nvPr>
        </p:nvSpPr>
        <p:spPr/>
        <p:txBody>
          <a:bodyPr/>
          <a:lstStyle/>
          <a:p>
            <a:pPr lvl="0"/>
            <a:endParaRPr lang="fr-FR"/>
          </a:p>
        </p:txBody>
      </p:sp>
      <p:sp>
        <p:nvSpPr>
          <p:cNvPr id="6" name="Slide Number Placeholder 5"/>
          <p:cNvSpPr>
            <a:spLocks noGrp="1"/>
          </p:cNvSpPr>
          <p:nvPr>
            <p:ph type="sldNum" sz="quarter" idx="12"/>
          </p:nvPr>
        </p:nvSpPr>
        <p:spPr/>
        <p:txBody>
          <a:bodyPr/>
          <a:lstStyle/>
          <a:p>
            <a:pPr lvl="0"/>
            <a:fld id="{D7D36491-54B4-4264-8E41-A5009DC03AA7}" type="slidenum">
              <a:rPr lang="fr-CM" smtClean="0"/>
              <a:t>‹#›</a:t>
            </a:fld>
            <a:endParaRPr lang="fr-CM"/>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40199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pPr lvl="0"/>
            <a:fld id="{3448EDFC-FBDB-49E8-A8AD-8DB8EC4853EE}" type="datetime1">
              <a:rPr lang="fr-FR" smtClean="0"/>
              <a:pPr lvl="0"/>
              <a:t>13/06/2026</a:t>
            </a:fld>
            <a:endParaRPr lang="fr-FR"/>
          </a:p>
        </p:txBody>
      </p:sp>
      <p:sp>
        <p:nvSpPr>
          <p:cNvPr id="5" name="Footer Placeholder 4"/>
          <p:cNvSpPr>
            <a:spLocks noGrp="1"/>
          </p:cNvSpPr>
          <p:nvPr>
            <p:ph type="ftr" sz="quarter" idx="11"/>
          </p:nvPr>
        </p:nvSpPr>
        <p:spPr/>
        <p:txBody>
          <a:bodyPr/>
          <a:lstStyle/>
          <a:p>
            <a:pPr lvl="0"/>
            <a:endParaRPr lang="fr-FR"/>
          </a:p>
        </p:txBody>
      </p:sp>
      <p:sp>
        <p:nvSpPr>
          <p:cNvPr id="6" name="Slide Number Placeholder 5"/>
          <p:cNvSpPr>
            <a:spLocks noGrp="1"/>
          </p:cNvSpPr>
          <p:nvPr>
            <p:ph type="sldNum" sz="quarter" idx="12"/>
          </p:nvPr>
        </p:nvSpPr>
        <p:spPr/>
        <p:txBody>
          <a:bodyPr/>
          <a:lstStyle/>
          <a:p>
            <a:pPr lvl="0"/>
            <a:fld id="{4CB873FF-16BF-4801-ACE0-084B2F577D6D}" type="slidenum">
              <a:rPr lang="fr-CM" smtClean="0"/>
              <a:t>‹#›</a:t>
            </a:fld>
            <a:endParaRPr lang="fr-CM"/>
          </a:p>
        </p:txBody>
      </p:sp>
    </p:spTree>
    <p:extLst>
      <p:ext uri="{BB962C8B-B14F-4D97-AF65-F5344CB8AC3E}">
        <p14:creationId xmlns:p14="http://schemas.microsoft.com/office/powerpoint/2010/main" val="5801863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pPr lvl="0"/>
            <a:fld id="{5B199CD8-C6DA-41C6-AA6F-00618C5FC471}" type="datetime1">
              <a:rPr lang="fr-FR" smtClean="0"/>
              <a:pPr lvl="0"/>
              <a:t>13/06/2026</a:t>
            </a:fld>
            <a:endParaRPr lang="fr-FR"/>
          </a:p>
        </p:txBody>
      </p:sp>
      <p:sp>
        <p:nvSpPr>
          <p:cNvPr id="5" name="Footer Placeholder 4"/>
          <p:cNvSpPr>
            <a:spLocks noGrp="1"/>
          </p:cNvSpPr>
          <p:nvPr>
            <p:ph type="ftr" sz="quarter" idx="11"/>
          </p:nvPr>
        </p:nvSpPr>
        <p:spPr/>
        <p:txBody>
          <a:bodyPr/>
          <a:lstStyle/>
          <a:p>
            <a:pPr lvl="0"/>
            <a:endParaRPr lang="fr-FR"/>
          </a:p>
        </p:txBody>
      </p:sp>
      <p:sp>
        <p:nvSpPr>
          <p:cNvPr id="6" name="Slide Number Placeholder 5"/>
          <p:cNvSpPr>
            <a:spLocks noGrp="1"/>
          </p:cNvSpPr>
          <p:nvPr>
            <p:ph type="sldNum" sz="quarter" idx="12"/>
          </p:nvPr>
        </p:nvSpPr>
        <p:spPr/>
        <p:txBody>
          <a:bodyPr/>
          <a:lstStyle/>
          <a:p>
            <a:pPr lvl="0"/>
            <a:fld id="{05351D9B-C2DC-452F-8A56-F9FADDDCFC52}" type="slidenum">
              <a:rPr lang="fr-CM" smtClean="0"/>
              <a:t>‹#›</a:t>
            </a:fld>
            <a:endParaRPr lang="fr-CM"/>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21788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pPr lvl="0"/>
            <a:fld id="{5B199CD8-C6DA-41C6-AA6F-00618C5FC471}" type="datetime1">
              <a:rPr lang="fr-FR" smtClean="0"/>
              <a:pPr lvl="0"/>
              <a:t>13/06/2026</a:t>
            </a:fld>
            <a:endParaRPr lang="fr-FR"/>
          </a:p>
        </p:txBody>
      </p:sp>
      <p:sp>
        <p:nvSpPr>
          <p:cNvPr id="5" name="Footer Placeholder 4"/>
          <p:cNvSpPr>
            <a:spLocks noGrp="1"/>
          </p:cNvSpPr>
          <p:nvPr>
            <p:ph type="ftr" sz="quarter" idx="11"/>
          </p:nvPr>
        </p:nvSpPr>
        <p:spPr/>
        <p:txBody>
          <a:bodyPr/>
          <a:lstStyle/>
          <a:p>
            <a:pPr lvl="0"/>
            <a:endParaRPr lang="fr-FR"/>
          </a:p>
        </p:txBody>
      </p:sp>
      <p:sp>
        <p:nvSpPr>
          <p:cNvPr id="6" name="Slide Number Placeholder 5"/>
          <p:cNvSpPr>
            <a:spLocks noGrp="1"/>
          </p:cNvSpPr>
          <p:nvPr>
            <p:ph type="sldNum" sz="quarter" idx="12"/>
          </p:nvPr>
        </p:nvSpPr>
        <p:spPr/>
        <p:txBody>
          <a:bodyPr/>
          <a:lstStyle/>
          <a:p>
            <a:pPr lvl="0"/>
            <a:fld id="{05351D9B-C2DC-452F-8A56-F9FADDDCFC52}" type="slidenum">
              <a:rPr lang="fr-CM" smtClean="0"/>
              <a:t>‹#›</a:t>
            </a:fld>
            <a:endParaRPr lang="fr-CM"/>
          </a:p>
        </p:txBody>
      </p:sp>
    </p:spTree>
    <p:extLst>
      <p:ext uri="{BB962C8B-B14F-4D97-AF65-F5344CB8AC3E}">
        <p14:creationId xmlns:p14="http://schemas.microsoft.com/office/powerpoint/2010/main" val="5470894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pPr lvl="0"/>
            <a:fld id="{E8A90F31-A440-4C9B-8C1B-EE2B859DEE6C}" type="datetime1">
              <a:rPr lang="fr-FR" smtClean="0"/>
              <a:pPr lvl="0"/>
              <a:t>13/06/2026</a:t>
            </a:fld>
            <a:endParaRPr lang="fr-FR"/>
          </a:p>
        </p:txBody>
      </p:sp>
      <p:sp>
        <p:nvSpPr>
          <p:cNvPr id="5" name="Footer Placeholder 4"/>
          <p:cNvSpPr>
            <a:spLocks noGrp="1"/>
          </p:cNvSpPr>
          <p:nvPr>
            <p:ph type="ftr" sz="quarter" idx="11"/>
          </p:nvPr>
        </p:nvSpPr>
        <p:spPr/>
        <p:txBody>
          <a:bodyPr/>
          <a:lstStyle/>
          <a:p>
            <a:pPr lvl="0"/>
            <a:endParaRPr lang="fr-FR"/>
          </a:p>
        </p:txBody>
      </p:sp>
      <p:sp>
        <p:nvSpPr>
          <p:cNvPr id="6" name="Slide Number Placeholder 5"/>
          <p:cNvSpPr>
            <a:spLocks noGrp="1"/>
          </p:cNvSpPr>
          <p:nvPr>
            <p:ph type="sldNum" sz="quarter" idx="12"/>
          </p:nvPr>
        </p:nvSpPr>
        <p:spPr/>
        <p:txBody>
          <a:bodyPr/>
          <a:lstStyle/>
          <a:p>
            <a:pPr lvl="0"/>
            <a:fld id="{78DF69AF-B422-4025-908C-1A8D59216B78}" type="slidenum">
              <a:rPr lang="fr-CM" smtClean="0"/>
              <a:t>‹#›</a:t>
            </a:fld>
            <a:endParaRPr lang="fr-CM"/>
          </a:p>
        </p:txBody>
      </p:sp>
    </p:spTree>
    <p:extLst>
      <p:ext uri="{BB962C8B-B14F-4D97-AF65-F5344CB8AC3E}">
        <p14:creationId xmlns:p14="http://schemas.microsoft.com/office/powerpoint/2010/main" val="3705821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pPr lvl="0"/>
            <a:fld id="{595454AF-3B59-4FD2-A47C-7ADB005ED7B1}" type="datetime1">
              <a:rPr lang="fr-FR" smtClean="0"/>
              <a:pPr lvl="0"/>
              <a:t>13/06/2026</a:t>
            </a:fld>
            <a:endParaRPr lang="fr-FR"/>
          </a:p>
        </p:txBody>
      </p:sp>
      <p:sp>
        <p:nvSpPr>
          <p:cNvPr id="5" name="Footer Placeholder 4"/>
          <p:cNvSpPr>
            <a:spLocks noGrp="1"/>
          </p:cNvSpPr>
          <p:nvPr>
            <p:ph type="ftr" sz="quarter" idx="11"/>
          </p:nvPr>
        </p:nvSpPr>
        <p:spPr/>
        <p:txBody>
          <a:bodyPr/>
          <a:lstStyle/>
          <a:p>
            <a:pPr lvl="0"/>
            <a:endParaRPr lang="fr-FR"/>
          </a:p>
        </p:txBody>
      </p:sp>
      <p:sp>
        <p:nvSpPr>
          <p:cNvPr id="6" name="Slide Number Placeholder 5"/>
          <p:cNvSpPr>
            <a:spLocks noGrp="1"/>
          </p:cNvSpPr>
          <p:nvPr>
            <p:ph type="sldNum" sz="quarter" idx="12"/>
          </p:nvPr>
        </p:nvSpPr>
        <p:spPr/>
        <p:txBody>
          <a:bodyPr/>
          <a:lstStyle/>
          <a:p>
            <a:pPr lvl="0"/>
            <a:fld id="{C76378BD-4C13-4195-943F-3824437B8F6B}" type="slidenum">
              <a:rPr lang="fr-CM" smtClean="0"/>
              <a:t>‹#›</a:t>
            </a:fld>
            <a:endParaRPr lang="fr-CM"/>
          </a:p>
        </p:txBody>
      </p:sp>
    </p:spTree>
    <p:extLst>
      <p:ext uri="{BB962C8B-B14F-4D97-AF65-F5344CB8AC3E}">
        <p14:creationId xmlns:p14="http://schemas.microsoft.com/office/powerpoint/2010/main" val="1622390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lvl="0"/>
            <a:fld id="{5B199CD8-C6DA-41C6-AA6F-00618C5FC471}" type="datetime1">
              <a:rPr lang="fr-FR" smtClean="0"/>
              <a:pPr lvl="0"/>
              <a:t>13/06/2026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lvl="0"/>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lvl="0"/>
            <a:fld id="{05351D9B-C2DC-452F-8A56-F9FADDDCFC52}" type="slidenum">
              <a:rPr lang="fr-CM" smtClean="0"/>
              <a:t>‹#›</a:t>
            </a:fld>
            <a:endParaRPr lang="fr-CM"/>
          </a:p>
        </p:txBody>
      </p:sp>
    </p:spTree>
    <p:extLst>
      <p:ext uri="{BB962C8B-B14F-4D97-AF65-F5344CB8AC3E}">
        <p14:creationId xmlns:p14="http://schemas.microsoft.com/office/powerpoint/2010/main" val="1951976821"/>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sv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2.xml"/><Relationship Id="rId16"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sv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ous-nutrition-eds.streamlit.app/"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sp>
        <p:nvSpPr>
          <p:cNvPr id="2" name="Rectangle à coins arrondis 7"/>
          <p:cNvSpPr/>
          <p:nvPr/>
        </p:nvSpPr>
        <p:spPr>
          <a:xfrm>
            <a:off x="932173" y="1413192"/>
            <a:ext cx="8587752" cy="1558220"/>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solidFill>
            <a:schemeClr val="accent1"/>
          </a:solidFill>
          <a:ln w="9528" cap="flat">
            <a:solidFill>
              <a:srgbClr val="588FE2"/>
            </a:solidFill>
            <a:prstDash val="solid"/>
            <a:miter/>
          </a:ln>
        </p:spPr>
        <p:txBody>
          <a:bodyPr vert="horz" wrap="square" lIns="91440" tIns="45720" rIns="91440" bIns="45720" anchor="ctr" anchorCtr="0" compatLnSpc="1">
            <a:noAutofit/>
          </a:bodyPr>
          <a:lstStyle/>
          <a:p>
            <a:pPr lvl="0" algn="ctr" defTabSz="914400" hangingPunct="0">
              <a:defRPr sz="1800" b="0" i="0" u="none" strike="noStrike" kern="0" cap="none" spc="0" baseline="0">
                <a:solidFill>
                  <a:srgbClr val="000000"/>
                </a:solidFill>
                <a:uFillTx/>
              </a:defRPr>
            </a:pPr>
            <a:r>
              <a:rPr lang="fr-FR" sz="3600" b="1" dirty="0">
                <a:latin typeface="Times New Roman" panose="02020603050405020304" pitchFamily="18" charset="0"/>
                <a:cs typeface="Times New Roman" panose="02020603050405020304" pitchFamily="18" charset="0"/>
              </a:rPr>
              <a:t>Thème: Facteurs déterminants de la Malnutrition infantile au Cameroun</a:t>
            </a:r>
            <a:endParaRPr lang="fr-CM" sz="3600" b="1" i="0" u="none" strike="noStrike" kern="1200" cap="none" spc="0" baseline="0" dirty="0">
              <a:solidFill>
                <a:srgbClr val="000000"/>
              </a:solidFill>
              <a:uFillTx/>
              <a:latin typeface="Arial" pitchFamily="34"/>
            </a:endParaRPr>
          </a:p>
        </p:txBody>
      </p:sp>
      <p:sp>
        <p:nvSpPr>
          <p:cNvPr id="3" name="Rectangle 8"/>
          <p:cNvSpPr/>
          <p:nvPr/>
        </p:nvSpPr>
        <p:spPr>
          <a:xfrm>
            <a:off x="932173" y="3236798"/>
            <a:ext cx="8587752" cy="798472"/>
          </a:xfrm>
          <a:prstGeom prst="rect">
            <a:avLst/>
          </a:prstGeom>
          <a:noFill/>
          <a:ln cap="flat">
            <a:noFill/>
            <a:prstDash val="solid"/>
          </a:ln>
        </p:spPr>
        <p:txBody>
          <a:bodyPr vert="horz" wrap="square" lIns="91440" tIns="45720" rIns="91440" bIns="45720" anchor="ctr" anchorCtr="1" compatLnSpc="1">
            <a:noAutofit/>
          </a:bodyPr>
          <a:lstStyle/>
          <a:p>
            <a:pPr algn="ctr"/>
            <a:r>
              <a:rPr lang="fr-FR" sz="1600" dirty="0">
                <a:latin typeface="Times New Roman" panose="02020603050405020304" pitchFamily="18" charset="0"/>
                <a:cs typeface="Times New Roman" panose="02020603050405020304" pitchFamily="18" charset="0"/>
              </a:rPr>
              <a:t>Une étude de la situation Sous Nutrition infantile sur trois formes majeures de Malnutrition (</a:t>
            </a:r>
            <a:r>
              <a:rPr lang="fr-FR" sz="1600" b="1" dirty="0">
                <a:latin typeface="Times New Roman" panose="02020603050405020304" pitchFamily="18" charset="0"/>
                <a:cs typeface="Times New Roman" panose="02020603050405020304" pitchFamily="18" charset="0"/>
              </a:rPr>
              <a:t>retard de croissance, amaigrissement, insuffisance pondérale): Une étude basée sur les données de l’</a:t>
            </a:r>
            <a:r>
              <a:rPr lang="fr-FR" sz="1600" b="1" dirty="0" err="1">
                <a:latin typeface="Times New Roman" panose="02020603050405020304" pitchFamily="18" charset="0"/>
                <a:cs typeface="Times New Roman" panose="02020603050405020304" pitchFamily="18" charset="0"/>
              </a:rPr>
              <a:t>Enqu</a:t>
            </a:r>
            <a:r>
              <a:rPr lang="fr-FR" sz="1600" dirty="0" err="1"/>
              <a:t>è</a:t>
            </a:r>
            <a:r>
              <a:rPr lang="fr-FR" sz="1600" b="1" dirty="0" err="1">
                <a:latin typeface="Times New Roman" panose="02020603050405020304" pitchFamily="18" charset="0"/>
                <a:cs typeface="Times New Roman" panose="02020603050405020304" pitchFamily="18" charset="0"/>
              </a:rPr>
              <a:t>te</a:t>
            </a:r>
            <a:r>
              <a:rPr lang="fr-FR" sz="1600" b="1" dirty="0">
                <a:latin typeface="Times New Roman" panose="02020603050405020304" pitchFamily="18" charset="0"/>
                <a:cs typeface="Times New Roman" panose="02020603050405020304" pitchFamily="18" charset="0"/>
              </a:rPr>
              <a:t> Démographiques de Sante EDS Cameroun 2018 </a:t>
            </a:r>
            <a:endParaRPr lang="fr-FR" sz="1600" dirty="0">
              <a:latin typeface="Times New Roman" panose="02020603050405020304" pitchFamily="18" charset="0"/>
              <a:cs typeface="Times New Roman" panose="02020603050405020304" pitchFamily="18" charset="0"/>
            </a:endParaRPr>
          </a:p>
        </p:txBody>
      </p:sp>
      <p:sp>
        <p:nvSpPr>
          <p:cNvPr id="4" name="Rectangle 11"/>
          <p:cNvSpPr/>
          <p:nvPr/>
        </p:nvSpPr>
        <p:spPr>
          <a:xfrm>
            <a:off x="712267" y="4268842"/>
            <a:ext cx="3914775" cy="342900"/>
          </a:xfrm>
          <a:prstGeom prst="rect">
            <a:avLst/>
          </a:prstGeom>
          <a:noFill/>
          <a:ln cap="flat">
            <a:noFill/>
            <a:prstDash val="solid"/>
          </a:ln>
        </p:spPr>
        <p:txBody>
          <a:bodyPr vert="horz" wrap="square" lIns="91440" tIns="45720" rIns="91440" bIns="45720" anchor="ctr"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CM" sz="1600" b="1" i="0" u="sng" strike="noStrike" kern="1200" cap="none" spc="0" baseline="0" dirty="0">
              <a:solidFill>
                <a:srgbClr val="000000"/>
              </a:solidFill>
              <a:uFillTx/>
              <a:latin typeface="Times New Roman" pitchFamily="18"/>
              <a:ea typeface="Calibri" pitchFamily="34"/>
              <a:cs typeface="Times New Roman" pitchFamily="18"/>
            </a:endParaRPr>
          </a:p>
          <a:p>
            <a:pPr lvl="0" algn="ctr" defTabSz="914400" hangingPunct="0">
              <a:defRPr sz="1800" b="0" i="0" u="none" strike="noStrike" kern="0" cap="none" spc="0" baseline="0">
                <a:solidFill>
                  <a:srgbClr val="000000"/>
                </a:solidFill>
                <a:uFillTx/>
              </a:defRPr>
            </a:pPr>
            <a:r>
              <a:rPr lang="fr-CM" sz="1600" b="1" u="sng" dirty="0">
                <a:solidFill>
                  <a:srgbClr val="000000"/>
                </a:solidFill>
                <a:latin typeface="Times New Roman" pitchFamily="18"/>
                <a:ea typeface="Calibri" pitchFamily="34"/>
                <a:cs typeface="Times New Roman" pitchFamily="18"/>
              </a:rPr>
              <a:t>SP</a:t>
            </a:r>
            <a:r>
              <a:rPr lang="fr-CM" sz="1600" b="1" u="sng" dirty="0">
                <a:solidFill>
                  <a:srgbClr val="000000"/>
                </a:solidFill>
                <a:latin typeface="Calibri" pitchFamily="34"/>
                <a:ea typeface="Calibri" pitchFamily="34"/>
                <a:cs typeface="Times New Roman" pitchFamily="18"/>
              </a:rPr>
              <a:t>É</a:t>
            </a:r>
            <a:r>
              <a:rPr lang="fr-CM" sz="1600" b="1" u="sng" dirty="0">
                <a:solidFill>
                  <a:srgbClr val="000000"/>
                </a:solidFill>
                <a:latin typeface="Times New Roman" pitchFamily="18"/>
                <a:ea typeface="Calibri" pitchFamily="34"/>
                <a:cs typeface="Times New Roman" pitchFamily="18"/>
              </a:rPr>
              <a:t>CIALIT</a:t>
            </a:r>
            <a:r>
              <a:rPr lang="fr-CM" sz="1600" b="1" u="sng" dirty="0">
                <a:solidFill>
                  <a:srgbClr val="000000"/>
                </a:solidFill>
                <a:latin typeface="Calibri" pitchFamily="34"/>
                <a:ea typeface="Calibri" pitchFamily="34"/>
                <a:cs typeface="Times New Roman" pitchFamily="18"/>
              </a:rPr>
              <a:t>É</a:t>
            </a:r>
            <a:r>
              <a:rPr lang="fr-CM" sz="1600" b="1" dirty="0">
                <a:solidFill>
                  <a:srgbClr val="000000"/>
                </a:solidFill>
                <a:latin typeface="Calibri" pitchFamily="34"/>
                <a:ea typeface="Calibri" pitchFamily="34"/>
                <a:cs typeface="Times New Roman" pitchFamily="18"/>
              </a:rPr>
              <a:t> </a:t>
            </a:r>
            <a:r>
              <a:rPr lang="fr-CM" sz="1600" b="1" dirty="0">
                <a:solidFill>
                  <a:srgbClr val="000000"/>
                </a:solidFill>
                <a:latin typeface="Times New Roman" pitchFamily="18"/>
                <a:ea typeface="Calibri" pitchFamily="34"/>
                <a:cs typeface="Times New Roman" pitchFamily="18"/>
              </a:rPr>
              <a:t>: Systèmes d’Information</a:t>
            </a:r>
            <a:endParaRPr lang="fr-FR" sz="1600" b="0" i="0" u="none" strike="noStrike" kern="1200" cap="none" spc="0" baseline="0" dirty="0">
              <a:solidFill>
                <a:srgbClr val="000000"/>
              </a:solidFill>
              <a:uFillTx/>
              <a:latin typeface="Century Gothic"/>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600" b="0" i="0" u="none" strike="noStrike" kern="1200" cap="none" spc="0" baseline="0" dirty="0">
              <a:solidFill>
                <a:srgbClr val="000000"/>
              </a:solidFill>
              <a:uFillTx/>
              <a:latin typeface="Arial" pitchFamily="34"/>
            </a:endParaRPr>
          </a:p>
        </p:txBody>
      </p:sp>
      <p:sp>
        <p:nvSpPr>
          <p:cNvPr id="5" name="Rectangle 15"/>
          <p:cNvSpPr/>
          <p:nvPr/>
        </p:nvSpPr>
        <p:spPr>
          <a:xfrm>
            <a:off x="5449148" y="4224337"/>
            <a:ext cx="5162546" cy="3429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CM" sz="1600" b="1" u="sng" dirty="0">
                <a:solidFill>
                  <a:srgbClr val="000000"/>
                </a:solidFill>
                <a:latin typeface="Times New Roman" pitchFamily="18"/>
                <a:ea typeface="Calibri" pitchFamily="34"/>
                <a:cs typeface="Times New Roman" pitchFamily="18"/>
              </a:rPr>
              <a:t>OPTION</a:t>
            </a:r>
            <a:r>
              <a:rPr lang="fr-CM" sz="1600" b="1" i="0" u="none" strike="noStrike" kern="1200" cap="none" spc="0" baseline="0" dirty="0">
                <a:solidFill>
                  <a:srgbClr val="000000"/>
                </a:solidFill>
                <a:uFillTx/>
                <a:latin typeface="Calibri" pitchFamily="34"/>
                <a:ea typeface="Calibri" pitchFamily="34"/>
                <a:cs typeface="Times New Roman" pitchFamily="18"/>
              </a:rPr>
              <a:t> </a:t>
            </a:r>
            <a:r>
              <a:rPr lang="fr-CM" sz="1600" b="1" i="0" u="none" strike="noStrike" kern="1200" cap="none" spc="0" baseline="0" dirty="0">
                <a:solidFill>
                  <a:srgbClr val="000000"/>
                </a:solidFill>
                <a:uFillTx/>
                <a:latin typeface="Times New Roman" pitchFamily="18"/>
                <a:ea typeface="Calibri" pitchFamily="34"/>
                <a:cs typeface="Times New Roman" pitchFamily="18"/>
              </a:rPr>
              <a:t>:  Data Science</a:t>
            </a:r>
            <a:endParaRPr lang="fr-CM" sz="1600" b="0" i="0" u="none" strike="noStrike" kern="1200" cap="none" spc="0" baseline="0" dirty="0">
              <a:solidFill>
                <a:srgbClr val="000000"/>
              </a:solidFill>
              <a:uFillTx/>
              <a:latin typeface="Arial" pitchFamily="34"/>
            </a:endParaRPr>
          </a:p>
        </p:txBody>
      </p:sp>
      <p:sp>
        <p:nvSpPr>
          <p:cNvPr id="6" name="Rectangle 16"/>
          <p:cNvSpPr/>
          <p:nvPr/>
        </p:nvSpPr>
        <p:spPr>
          <a:xfrm>
            <a:off x="1428132" y="4934898"/>
            <a:ext cx="7435370" cy="35884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CM" sz="1600" b="1" i="0" u="sng" strike="noStrike" kern="0" cap="none" spc="0" baseline="0" dirty="0">
                <a:solidFill>
                  <a:srgbClr val="000000"/>
                </a:solidFill>
                <a:uFillTx/>
                <a:latin typeface="Times New Roman" pitchFamily="18"/>
                <a:ea typeface="Calibri" pitchFamily="34"/>
                <a:cs typeface="Times New Roman" pitchFamily="18"/>
              </a:rPr>
              <a:t>Présenté </a:t>
            </a:r>
            <a:r>
              <a:rPr lang="fr-CM" sz="1600" b="1" i="0" u="sng" strike="noStrike" kern="1200" cap="none" spc="0" baseline="0" dirty="0">
                <a:solidFill>
                  <a:srgbClr val="000000"/>
                </a:solidFill>
                <a:uFillTx/>
                <a:latin typeface="Times New Roman" pitchFamily="18"/>
                <a:ea typeface="Calibri" pitchFamily="34"/>
                <a:cs typeface="Times New Roman" pitchFamily="18"/>
              </a:rPr>
              <a:t>par</a:t>
            </a:r>
            <a:r>
              <a:rPr lang="fr-CM" sz="1600" b="1" i="0" u="none" strike="noStrike" kern="1200" cap="none" spc="0" baseline="0" dirty="0">
                <a:solidFill>
                  <a:srgbClr val="000000"/>
                </a:solidFill>
                <a:uFillTx/>
                <a:latin typeface="Calibri" pitchFamily="34"/>
                <a:ea typeface="Calibri" pitchFamily="34"/>
                <a:cs typeface="Times New Roman" pitchFamily="18"/>
              </a:rPr>
              <a:t> </a:t>
            </a:r>
            <a:r>
              <a:rPr lang="fr-CM" sz="1600" b="1" i="0" u="none" strike="noStrike" kern="1200" cap="none" spc="0" baseline="0" dirty="0">
                <a:solidFill>
                  <a:srgbClr val="000000"/>
                </a:solidFill>
                <a:uFillTx/>
                <a:latin typeface="Times New Roman" pitchFamily="18"/>
                <a:ea typeface="Calibri" pitchFamily="34"/>
                <a:cs typeface="Times New Roman" pitchFamily="18"/>
              </a:rPr>
              <a:t>: </a:t>
            </a:r>
            <a:r>
              <a:rPr lang="fr-CM" sz="2000" b="1" i="0" u="none" strike="noStrike" kern="0" cap="none" spc="0" baseline="0" dirty="0">
                <a:solidFill>
                  <a:srgbClr val="000000"/>
                </a:solidFill>
                <a:uFillTx/>
                <a:latin typeface="Times New Roman" pitchFamily="18"/>
                <a:ea typeface="Calibri" pitchFamily="34"/>
                <a:cs typeface="Times New Roman" pitchFamily="18"/>
              </a:rPr>
              <a:t>NGOUMTSOP TEUZEM Yeiayel Chavaquiah</a:t>
            </a:r>
            <a:r>
              <a:rPr lang="fr-CM" sz="2000" b="1" kern="0" dirty="0">
                <a:solidFill>
                  <a:srgbClr val="000000"/>
                </a:solidFill>
                <a:latin typeface="Times New Roman" pitchFamily="18"/>
                <a:ea typeface="Calibri" pitchFamily="34"/>
                <a:cs typeface="Times New Roman" pitchFamily="18"/>
              </a:rPr>
              <a:t> </a:t>
            </a:r>
            <a:endParaRPr lang="fr-CM" sz="2000" b="0" i="0" u="none" strike="noStrike" kern="0" cap="none" spc="0" baseline="0" dirty="0">
              <a:solidFill>
                <a:srgbClr val="000000"/>
              </a:solidFill>
              <a:uFillTx/>
              <a:latin typeface="Century Gothic"/>
            </a:endParaRPr>
          </a:p>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CM" sz="1600" b="0" i="0" u="none" strike="noStrike" kern="1200" cap="none" spc="0" baseline="0" dirty="0">
              <a:solidFill>
                <a:srgbClr val="000000"/>
              </a:solidFill>
              <a:uFillTx/>
              <a:latin typeface="Century Gothic"/>
            </a:endParaRPr>
          </a:p>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CM" sz="1600" b="1" i="0" u="none" strike="noStrike" kern="1200" cap="none" spc="0" baseline="0" dirty="0">
                <a:solidFill>
                  <a:srgbClr val="000000"/>
                </a:solidFill>
                <a:uFillTx/>
                <a:latin typeface="Times New Roman" pitchFamily="18"/>
                <a:ea typeface="Calibri" pitchFamily="34"/>
                <a:cs typeface="Times New Roman" pitchFamily="18"/>
              </a:rPr>
              <a:t> </a:t>
            </a:r>
            <a:endParaRPr lang="fr-CM" sz="1800" b="0" i="0" u="none" strike="noStrike" kern="1200" cap="none" spc="0" baseline="0" dirty="0">
              <a:solidFill>
                <a:srgbClr val="000000"/>
              </a:solidFill>
              <a:uFillTx/>
              <a:latin typeface="Arial" pitchFamily="34"/>
            </a:endParaRPr>
          </a:p>
        </p:txBody>
      </p:sp>
      <p:sp>
        <p:nvSpPr>
          <p:cNvPr id="7" name="Rectangle 18"/>
          <p:cNvSpPr/>
          <p:nvPr/>
        </p:nvSpPr>
        <p:spPr>
          <a:xfrm>
            <a:off x="2669655" y="4919668"/>
            <a:ext cx="4475018" cy="1008976"/>
          </a:xfrm>
          <a:prstGeom prst="rect">
            <a:avLst/>
          </a:prstGeom>
          <a:noFill/>
          <a:ln cap="flat">
            <a:noFill/>
            <a:prstDash val="solid"/>
          </a:ln>
        </p:spPr>
        <p:txBody>
          <a:bodyPr vert="horz" wrap="square" lIns="91440" tIns="45720" rIns="91440" bIns="45720" anchor="ctr" anchorCtr="0" compatLnSpc="1">
            <a:noAutofit/>
          </a:bodyPr>
          <a:lstStyle/>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CM" sz="1600" b="1" i="1" u="none" strike="noStrike" kern="1200" cap="none" spc="0" baseline="0" dirty="0">
                <a:solidFill>
                  <a:srgbClr val="000000"/>
                </a:solidFill>
                <a:uFillTx/>
                <a:latin typeface="Calibri" pitchFamily="34"/>
                <a:ea typeface="Calibri" pitchFamily="34"/>
                <a:cs typeface="Times New Roman" pitchFamily="18"/>
              </a:rPr>
              <a:t>É</a:t>
            </a:r>
            <a:r>
              <a:rPr lang="fr-CM" sz="1600" b="1" i="1" u="none" strike="noStrike" kern="1200" cap="none" spc="0" baseline="0" dirty="0">
                <a:solidFill>
                  <a:srgbClr val="000000"/>
                </a:solidFill>
                <a:uFillTx/>
                <a:latin typeface="Times New Roman" pitchFamily="18"/>
                <a:ea typeface="Calibri" pitchFamily="34"/>
                <a:cs typeface="Times New Roman" pitchFamily="18"/>
              </a:rPr>
              <a:t>tudiant</a:t>
            </a:r>
            <a:r>
              <a:rPr lang="fr-CM" sz="1600" b="1" i="1" dirty="0">
                <a:solidFill>
                  <a:srgbClr val="000000"/>
                </a:solidFill>
                <a:latin typeface="Times New Roman" pitchFamily="18"/>
                <a:ea typeface="Calibri" pitchFamily="34"/>
                <a:cs typeface="Times New Roman" pitchFamily="18"/>
              </a:rPr>
              <a:t> en Master 1 Data Science</a:t>
            </a:r>
            <a:endParaRPr lang="fr-CM" sz="1400" b="0" i="0" u="none" strike="noStrike" kern="1200" cap="none" spc="0" baseline="0" dirty="0">
              <a:solidFill>
                <a:srgbClr val="000000"/>
              </a:solidFill>
              <a:uFillTx/>
              <a:latin typeface="Century Gothic"/>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CM" sz="1800" b="0" i="0" u="none" strike="noStrike" kern="1200" cap="none" spc="0" baseline="0" dirty="0">
              <a:solidFill>
                <a:srgbClr val="000000"/>
              </a:solidFill>
              <a:uFillTx/>
              <a:latin typeface="Arial" pitchFamily="34"/>
            </a:endParaRPr>
          </a:p>
        </p:txBody>
      </p:sp>
      <p:sp>
        <p:nvSpPr>
          <p:cNvPr id="8" name="Rectangle 19"/>
          <p:cNvSpPr/>
          <p:nvPr/>
        </p:nvSpPr>
        <p:spPr>
          <a:xfrm>
            <a:off x="3959589" y="5566698"/>
            <a:ext cx="2286000" cy="361946"/>
          </a:xfrm>
          <a:prstGeom prst="rect">
            <a:avLst/>
          </a:prstGeom>
          <a:noFill/>
          <a:ln cap="flat">
            <a:noFill/>
            <a:prstDash val="solid"/>
          </a:ln>
        </p:spPr>
        <p:txBody>
          <a:bodyPr vert="horz" wrap="square" lIns="91440" tIns="45720" rIns="91440" bIns="45720" anchor="ctr"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CM" sz="1400" b="1" i="0" u="sng" strike="noStrike" kern="1200" cap="none" spc="0" baseline="0" dirty="0">
              <a:solidFill>
                <a:srgbClr val="000000"/>
              </a:solidFill>
              <a:uFillTx/>
              <a:latin typeface="Times New Roman" pitchFamily="18"/>
              <a:ea typeface="Calibri" pitchFamily="34"/>
              <a:cs typeface="Times New Roman" pitchFamily="18"/>
            </a:endParaRPr>
          </a:p>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CM" sz="1400" b="1" i="0" u="sng" strike="noStrike" kern="1200" cap="none" spc="0" baseline="0" dirty="0">
                <a:solidFill>
                  <a:srgbClr val="000000"/>
                </a:solidFill>
                <a:uFillTx/>
                <a:latin typeface="Times New Roman" pitchFamily="18"/>
                <a:ea typeface="Calibri" pitchFamily="34"/>
                <a:cs typeface="Times New Roman" pitchFamily="18"/>
              </a:rPr>
              <a:t>Sous l</a:t>
            </a:r>
            <a:r>
              <a:rPr lang="fr-CM" sz="1400" b="1" i="0" u="sng" strike="noStrike" kern="1200" cap="none" spc="0" baseline="0" dirty="0">
                <a:solidFill>
                  <a:srgbClr val="000000"/>
                </a:solidFill>
                <a:uFillTx/>
                <a:latin typeface="Calibri" pitchFamily="34"/>
                <a:ea typeface="Calibri" pitchFamily="34"/>
                <a:cs typeface="Times New Roman" pitchFamily="18"/>
              </a:rPr>
              <a:t>’</a:t>
            </a:r>
            <a:r>
              <a:rPr lang="fr-CM" sz="1400" b="1" i="0" u="sng" strike="noStrike" kern="1200" cap="none" spc="0" baseline="0" dirty="0">
                <a:solidFill>
                  <a:srgbClr val="000000"/>
                </a:solidFill>
                <a:uFillTx/>
                <a:latin typeface="Times New Roman" pitchFamily="18"/>
                <a:ea typeface="Calibri" pitchFamily="34"/>
                <a:cs typeface="Times New Roman" pitchFamily="18"/>
              </a:rPr>
              <a:t>encadrement :</a:t>
            </a:r>
            <a:endParaRPr lang="fr-FR" sz="1100" b="0" i="0" u="none" strike="noStrike" kern="1200" cap="none" spc="0" baseline="0" dirty="0">
              <a:solidFill>
                <a:srgbClr val="000000"/>
              </a:solidFill>
              <a:uFillTx/>
              <a:latin typeface="Century Gothic"/>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dirty="0">
              <a:solidFill>
                <a:srgbClr val="000000"/>
              </a:solidFill>
              <a:uFillTx/>
              <a:latin typeface="Arial" pitchFamily="34"/>
            </a:endParaRPr>
          </a:p>
        </p:txBody>
      </p:sp>
      <p:sp>
        <p:nvSpPr>
          <p:cNvPr id="9" name="Rectangle 21"/>
          <p:cNvSpPr/>
          <p:nvPr/>
        </p:nvSpPr>
        <p:spPr>
          <a:xfrm>
            <a:off x="3588114" y="5712289"/>
            <a:ext cx="3028949" cy="1228725"/>
          </a:xfrm>
          <a:prstGeom prst="rect">
            <a:avLst/>
          </a:prstGeom>
          <a:noFill/>
          <a:ln cap="flat">
            <a:noFill/>
            <a:prstDash val="solid"/>
          </a:ln>
        </p:spPr>
        <p:txBody>
          <a:bodyPr vert="horz" wrap="square" lIns="91440" tIns="45720" rIns="91440" bIns="45720" anchor="ctr" anchorCtr="0" compatLnSpc="1">
            <a:noAutofit/>
          </a:bodyPr>
          <a:lstStyle/>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FR" sz="1400" b="1" i="0" u="none" strike="noStrike" kern="1200" cap="none" spc="0" baseline="0" dirty="0">
                <a:solidFill>
                  <a:srgbClr val="000000"/>
                </a:solidFill>
                <a:uFillTx/>
                <a:latin typeface="Times New Roman" pitchFamily="18"/>
                <a:ea typeface="Calibri" pitchFamily="34"/>
                <a:cs typeface="Times New Roman" pitchFamily="18"/>
              </a:rPr>
              <a:t>Pr NGUEFACK TSAGUE Georges</a:t>
            </a:r>
            <a:endParaRPr lang="fr-FR" sz="1100" b="0" i="0" u="none" strike="noStrike" kern="1200" cap="none" spc="0" baseline="0" dirty="0">
              <a:solidFill>
                <a:srgbClr val="000000"/>
              </a:solidFill>
              <a:uFillTx/>
              <a:latin typeface="Century Gothic"/>
            </a:endParaRPr>
          </a:p>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fr-CM" sz="1400" b="0" i="1" u="none" strike="noStrike" kern="1200" cap="none" spc="0" baseline="0" dirty="0">
                <a:solidFill>
                  <a:srgbClr val="000000"/>
                </a:solidFill>
                <a:uFillTx/>
                <a:latin typeface="Times New Roman" pitchFamily="18"/>
                <a:ea typeface="Calibri" pitchFamily="34"/>
                <a:cs typeface="Times New Roman" pitchFamily="18"/>
              </a:rPr>
              <a:t>Enseignant de Statistiques</a:t>
            </a:r>
            <a:endParaRPr lang="fr-FR" sz="1100" b="0" i="0" u="none" strike="noStrike" kern="1200" cap="none" spc="0" baseline="0" dirty="0">
              <a:solidFill>
                <a:srgbClr val="000000"/>
              </a:solidFill>
              <a:uFillTx/>
              <a:latin typeface="Century Gothic"/>
            </a:endParaRPr>
          </a:p>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dirty="0">
              <a:solidFill>
                <a:srgbClr val="000000"/>
              </a:solidFill>
              <a:uFillTx/>
              <a:latin typeface="Arial" pitchFamily="34"/>
            </a:endParaRPr>
          </a:p>
        </p:txBody>
      </p:sp>
      <p:sp>
        <p:nvSpPr>
          <p:cNvPr id="11" name="Rectangle 16"/>
          <p:cNvSpPr/>
          <p:nvPr/>
        </p:nvSpPr>
        <p:spPr>
          <a:xfrm>
            <a:off x="6245589" y="1913894"/>
            <a:ext cx="1495428" cy="866778"/>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457200" rtl="0" fontAlgn="auto" hangingPunct="1">
              <a:lnSpc>
                <a:spcPct val="107000"/>
              </a:lnSpc>
              <a:spcBef>
                <a:spcPts val="0"/>
              </a:spcBef>
              <a:spcAft>
                <a:spcPts val="800"/>
              </a:spcAft>
              <a:buNone/>
              <a:tabLst/>
              <a:defRPr sz="1800" b="0" i="0" u="none" strike="noStrike" kern="0" cap="none" spc="0" baseline="0">
                <a:solidFill>
                  <a:srgbClr val="000000"/>
                </a:solidFill>
                <a:uFillTx/>
              </a:defRPr>
            </a:pPr>
            <a:endParaRPr lang="fr-FR" sz="1100" b="0" i="0" u="none" strike="noStrike" kern="1200" cap="none" spc="0" baseline="0">
              <a:solidFill>
                <a:srgbClr val="FFFFFF"/>
              </a:solidFill>
              <a:uFillTx/>
              <a:latin typeface="Century Gothic"/>
              <a:ea typeface="Calibri" pitchFamily="34"/>
              <a:cs typeface="Times New Roman" pitchFamily="18"/>
            </a:endParaRPr>
          </a:p>
        </p:txBody>
      </p:sp>
      <p:sp>
        <p:nvSpPr>
          <p:cNvPr id="12" name="Rectangle 15"/>
          <p:cNvSpPr/>
          <p:nvPr/>
        </p:nvSpPr>
        <p:spPr>
          <a:xfrm>
            <a:off x="3213466" y="0"/>
            <a:ext cx="12191996" cy="457200"/>
          </a:xfrm>
          <a:prstGeom prst="rect">
            <a:avLst/>
          </a:prstGeom>
          <a:noFill/>
          <a:ln cap="flat">
            <a:noFill/>
            <a:prstDash val="solid"/>
          </a:ln>
        </p:spPr>
        <p:txBody>
          <a:bodyPr vert="horz" wrap="none" lIns="91440" tIns="45720" rIns="91440" bIns="45720" anchor="ctr"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Century Gothic"/>
            </a:endParaRPr>
          </a:p>
        </p:txBody>
      </p:sp>
      <p:sp>
        <p:nvSpPr>
          <p:cNvPr id="13" name="Rectangle 20"/>
          <p:cNvSpPr/>
          <p:nvPr/>
        </p:nvSpPr>
        <p:spPr>
          <a:xfrm>
            <a:off x="3213466" y="457200"/>
            <a:ext cx="0" cy="0"/>
          </a:xfrm>
          <a:prstGeom prst="rect">
            <a:avLst/>
          </a:prstGeom>
          <a:solidFill>
            <a:srgbClr val="E5224E"/>
          </a:solidFill>
          <a:ln w="9528" cap="flat">
            <a:solidFill>
              <a:srgbClr val="000000"/>
            </a:solidFill>
            <a:prstDash val="solid"/>
            <a:miter/>
          </a:ln>
        </p:spPr>
        <p:txBody>
          <a:bodyPr vert="horz" wrap="square" lIns="91440" tIns="45720" rIns="91440" bIns="45720" anchor="t" anchorCtr="0" compatLnSpc="1">
            <a:no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Century Gothic"/>
            </a:endParaRPr>
          </a:p>
        </p:txBody>
      </p:sp>
      <p:sp>
        <p:nvSpPr>
          <p:cNvPr id="14" name="Rectangle 23"/>
          <p:cNvSpPr/>
          <p:nvPr/>
        </p:nvSpPr>
        <p:spPr>
          <a:xfrm>
            <a:off x="3213466" y="1123953"/>
            <a:ext cx="12191996" cy="0"/>
          </a:xfrm>
          <a:prstGeom prst="rect">
            <a:avLst/>
          </a:prstGeom>
          <a:noFill/>
          <a:ln cap="flat">
            <a:noFill/>
            <a:prstDash val="solid"/>
          </a:ln>
        </p:spPr>
        <p:txBody>
          <a:bodyPr vert="horz" wrap="none" lIns="91440" tIns="45720" rIns="91440" bIns="45720" anchor="ctr" anchorCtr="0" compatLnSpc="1">
            <a:spAutoFit/>
          </a:bodyPr>
          <a:lstStyle/>
          <a:p>
            <a:pPr marL="0" marR="0" lvl="0" indent="0" algn="l" defTabSz="4572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fr-FR" sz="1800" b="0" i="0" u="none" strike="noStrike" kern="1200" cap="none" spc="0" baseline="0">
              <a:solidFill>
                <a:srgbClr val="000000"/>
              </a:solidFill>
              <a:uFillTx/>
              <a:latin typeface="Century Gothic"/>
            </a:endParaRPr>
          </a:p>
        </p:txBody>
      </p:sp>
      <p:sp>
        <p:nvSpPr>
          <p:cNvPr id="15" name="Rectangle 18"/>
          <p:cNvSpPr/>
          <p:nvPr/>
        </p:nvSpPr>
        <p:spPr>
          <a:xfrm>
            <a:off x="982170" y="448176"/>
            <a:ext cx="8327294" cy="830997"/>
          </a:xfrm>
          <a:prstGeom prst="rect">
            <a:avLst/>
          </a:prstGeom>
          <a:noFill/>
          <a:ln cap="flat">
            <a:noFill/>
            <a:prstDash val="solid"/>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2400" b="0" i="0" u="none" strike="noStrike" kern="1200" cap="none" spc="0" baseline="0" dirty="0">
                <a:solidFill>
                  <a:srgbClr val="000000"/>
                </a:solidFill>
                <a:uFillTx/>
                <a:latin typeface="Baskerville Old Face" pitchFamily="18"/>
              </a:rPr>
              <a:t>Rapport de présentation du TP de Statistiques Multivariées portant sur les régressions linéaires générales (GLM) et ML </a:t>
            </a:r>
          </a:p>
        </p:txBody>
      </p:sp>
      <p:pic>
        <p:nvPicPr>
          <p:cNvPr id="17" name="Image 17"/>
          <p:cNvPicPr>
            <a:picLocks noChangeAspect="1"/>
          </p:cNvPicPr>
          <p:nvPr/>
        </p:nvPicPr>
        <p:blipFill>
          <a:blip r:embed="rId3"/>
          <a:stretch>
            <a:fillRect/>
          </a:stretch>
        </p:blipFill>
        <p:spPr>
          <a:xfrm>
            <a:off x="10611694" y="4689472"/>
            <a:ext cx="1435534" cy="1166372"/>
          </a:xfrm>
          <a:prstGeom prst="rect">
            <a:avLst/>
          </a:prstGeom>
          <a:noFill/>
          <a:ln cap="flat">
            <a:noFill/>
          </a:ln>
        </p:spPr>
      </p:pic>
      <p:pic>
        <p:nvPicPr>
          <p:cNvPr id="16" name="Image 15">
            <a:extLst>
              <a:ext uri="{FF2B5EF4-FFF2-40B4-BE49-F238E27FC236}">
                <a16:creationId xmlns:a16="http://schemas.microsoft.com/office/drawing/2014/main" id="{ADA81FDA-AF5F-7F0F-37CC-E33D3C2D62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69" y="5332700"/>
            <a:ext cx="3886761" cy="1523327"/>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advTm="5000">
        <p15:prstTrans prst="curtains"/>
      </p:transition>
    </mc:Choice>
    <mc:Fallback xmlns="">
      <p:transition spd="slow" advTm="5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2">
    <p:spTree>
      <p:nvGrpSpPr>
        <p:cNvPr id="1" name=""/>
        <p:cNvGrpSpPr/>
        <p:nvPr/>
      </p:nvGrpSpPr>
      <p:grpSpPr>
        <a:xfrm>
          <a:off x="0" y="0"/>
          <a:ext cx="0" cy="0"/>
          <a:chOff x="0" y="0"/>
          <a:chExt cx="0" cy="0"/>
        </a:xfrm>
      </p:grpSpPr>
      <p:grpSp>
        <p:nvGrpSpPr>
          <p:cNvPr id="16" name="Groupe 15"/>
          <p:cNvGrpSpPr/>
          <p:nvPr/>
        </p:nvGrpSpPr>
        <p:grpSpPr>
          <a:xfrm>
            <a:off x="673270" y="1988690"/>
            <a:ext cx="3240000" cy="3240000"/>
            <a:chOff x="655190" y="2113586"/>
            <a:chExt cx="3240000" cy="3240000"/>
          </a:xfrm>
        </p:grpSpPr>
        <p:sp>
          <p:nvSpPr>
            <p:cNvPr id="14" name="Rectangle à coins arrondis 13"/>
            <p:cNvSpPr/>
            <p:nvPr/>
          </p:nvSpPr>
          <p:spPr>
            <a:xfrm rot="3104418">
              <a:off x="655190" y="2113586"/>
              <a:ext cx="3240000" cy="3240000"/>
            </a:xfrm>
            <a:prstGeom prst="round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a:effectLst>
              <a:outerShdw blurRad="50800" dist="38100" algn="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fr-CM"/>
            </a:p>
          </p:txBody>
        </p:sp>
        <p:sp>
          <p:nvSpPr>
            <p:cNvPr id="15" name="Rectangle à coins arrondis 14"/>
            <p:cNvSpPr/>
            <p:nvPr/>
          </p:nvSpPr>
          <p:spPr>
            <a:xfrm rot="3104418">
              <a:off x="1015190" y="2473585"/>
              <a:ext cx="2520000" cy="25200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fr-CM"/>
            </a:p>
          </p:txBody>
        </p:sp>
      </p:grpSp>
      <p:sp>
        <p:nvSpPr>
          <p:cNvPr id="17" name="ZoneTexte 16"/>
          <p:cNvSpPr txBox="1"/>
          <p:nvPr/>
        </p:nvSpPr>
        <p:spPr>
          <a:xfrm>
            <a:off x="1330960" y="3223369"/>
            <a:ext cx="1940560" cy="830997"/>
          </a:xfrm>
          <a:prstGeom prst="rect">
            <a:avLst/>
          </a:prstGeom>
          <a:noFill/>
        </p:spPr>
        <p:txBody>
          <a:bodyPr wrap="square" rtlCol="0">
            <a:spAutoFit/>
          </a:bodyPr>
          <a:lstStyle/>
          <a:p>
            <a:r>
              <a:rPr lang="en-US" sz="4800" b="1" dirty="0">
                <a:latin typeface="Times New Roman" panose="02020603050405020304" pitchFamily="18" charset="0"/>
                <a:cs typeface="Times New Roman" panose="02020603050405020304" pitchFamily="18" charset="0"/>
              </a:rPr>
              <a:t>PLAN</a:t>
            </a:r>
            <a:endParaRPr lang="fr-CM" sz="4800" b="1" dirty="0">
              <a:latin typeface="Times New Roman" panose="02020603050405020304" pitchFamily="18" charset="0"/>
              <a:cs typeface="Times New Roman" panose="02020603050405020304" pitchFamily="18" charset="0"/>
            </a:endParaRPr>
          </a:p>
        </p:txBody>
      </p:sp>
      <p:grpSp>
        <p:nvGrpSpPr>
          <p:cNvPr id="40" name="Groupe 39">
            <a:extLst>
              <a:ext uri="{FF2B5EF4-FFF2-40B4-BE49-F238E27FC236}">
                <a16:creationId xmlns:a16="http://schemas.microsoft.com/office/drawing/2014/main" id="{02DF7C9E-AFB9-EA21-16CD-D3F6B5336C5F}"/>
              </a:ext>
            </a:extLst>
          </p:cNvPr>
          <p:cNvGrpSpPr/>
          <p:nvPr/>
        </p:nvGrpSpPr>
        <p:grpSpPr>
          <a:xfrm>
            <a:off x="3866022" y="1147039"/>
            <a:ext cx="6065520" cy="565153"/>
            <a:chOff x="3866022" y="1147039"/>
            <a:chExt cx="6065520" cy="565153"/>
          </a:xfrm>
        </p:grpSpPr>
        <p:grpSp>
          <p:nvGrpSpPr>
            <p:cNvPr id="58" name="Groupe 57"/>
            <p:cNvGrpSpPr/>
            <p:nvPr/>
          </p:nvGrpSpPr>
          <p:grpSpPr>
            <a:xfrm>
              <a:off x="3866022" y="1147039"/>
              <a:ext cx="6065520" cy="565153"/>
              <a:chOff x="3987529" y="2398301"/>
              <a:chExt cx="6314440" cy="565153"/>
            </a:xfrm>
          </p:grpSpPr>
          <p:sp>
            <p:nvSpPr>
              <p:cNvPr id="30" name="Rectangle à coins arrondis 29"/>
              <p:cNvSpPr/>
              <p:nvPr/>
            </p:nvSpPr>
            <p:spPr>
              <a:xfrm>
                <a:off x="3987529" y="2423454"/>
                <a:ext cx="6065520" cy="54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CM" dirty="0"/>
              </a:p>
            </p:txBody>
          </p:sp>
          <p:sp>
            <p:nvSpPr>
              <p:cNvPr id="32" name="Rectangle à coins arrondis 31"/>
              <p:cNvSpPr/>
              <p:nvPr/>
            </p:nvSpPr>
            <p:spPr>
              <a:xfrm rot="2751025">
                <a:off x="9650173" y="2398301"/>
                <a:ext cx="540000" cy="54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M" dirty="0"/>
              </a:p>
            </p:txBody>
          </p:sp>
          <p:sp>
            <p:nvSpPr>
              <p:cNvPr id="33" name="ZoneTexte 32"/>
              <p:cNvSpPr txBox="1"/>
              <p:nvPr/>
            </p:nvSpPr>
            <p:spPr>
              <a:xfrm>
                <a:off x="9649006" y="2413508"/>
                <a:ext cx="65296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02</a:t>
                </a:r>
                <a:endParaRPr lang="fr-CM" sz="2400" b="1" dirty="0">
                  <a:latin typeface="Times New Roman" panose="02020603050405020304" pitchFamily="18" charset="0"/>
                  <a:cs typeface="Times New Roman" panose="02020603050405020304" pitchFamily="18" charset="0"/>
                </a:endParaRPr>
              </a:p>
            </p:txBody>
          </p:sp>
        </p:grpSp>
        <p:sp>
          <p:nvSpPr>
            <p:cNvPr id="57" name="ZoneTexte 56"/>
            <p:cNvSpPr txBox="1"/>
            <p:nvPr/>
          </p:nvSpPr>
          <p:spPr>
            <a:xfrm>
              <a:off x="4004077" y="1207898"/>
              <a:ext cx="580791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CONTEXTE ET PROBLEMATIQUE</a:t>
              </a:r>
              <a:endParaRPr lang="fr-CM" sz="2400" b="1" dirty="0">
                <a:latin typeface="Times New Roman" panose="02020603050405020304" pitchFamily="18" charset="0"/>
                <a:cs typeface="Times New Roman" panose="02020603050405020304" pitchFamily="18" charset="0"/>
              </a:endParaRPr>
            </a:p>
          </p:txBody>
        </p:sp>
      </p:grpSp>
      <p:grpSp>
        <p:nvGrpSpPr>
          <p:cNvPr id="43" name="Groupe 42">
            <a:extLst>
              <a:ext uri="{FF2B5EF4-FFF2-40B4-BE49-F238E27FC236}">
                <a16:creationId xmlns:a16="http://schemas.microsoft.com/office/drawing/2014/main" id="{0A38C1A1-5BB9-2824-3040-D61CDD49D30B}"/>
              </a:ext>
            </a:extLst>
          </p:cNvPr>
          <p:cNvGrpSpPr/>
          <p:nvPr/>
        </p:nvGrpSpPr>
        <p:grpSpPr>
          <a:xfrm>
            <a:off x="3882410" y="2002332"/>
            <a:ext cx="6314440" cy="565153"/>
            <a:chOff x="3882410" y="2002332"/>
            <a:chExt cx="6314440" cy="565153"/>
          </a:xfrm>
        </p:grpSpPr>
        <p:grpSp>
          <p:nvGrpSpPr>
            <p:cNvPr id="61" name="Groupe 60"/>
            <p:cNvGrpSpPr/>
            <p:nvPr/>
          </p:nvGrpSpPr>
          <p:grpSpPr>
            <a:xfrm>
              <a:off x="3882410" y="2002332"/>
              <a:ext cx="6314440" cy="565153"/>
              <a:chOff x="4816126" y="3253103"/>
              <a:chExt cx="6314440" cy="565153"/>
            </a:xfrm>
          </p:grpSpPr>
          <p:sp>
            <p:nvSpPr>
              <p:cNvPr id="39" name="Rectangle à coins arrondis 38"/>
              <p:cNvSpPr/>
              <p:nvPr/>
            </p:nvSpPr>
            <p:spPr>
              <a:xfrm>
                <a:off x="4816126" y="3278256"/>
                <a:ext cx="6065520" cy="54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CM"/>
              </a:p>
            </p:txBody>
          </p:sp>
          <p:sp>
            <p:nvSpPr>
              <p:cNvPr id="41" name="Rectangle à coins arrondis 40"/>
              <p:cNvSpPr/>
              <p:nvPr/>
            </p:nvSpPr>
            <p:spPr>
              <a:xfrm rot="2751025">
                <a:off x="10478770" y="3253103"/>
                <a:ext cx="540000" cy="54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M" dirty="0"/>
              </a:p>
            </p:txBody>
          </p:sp>
          <p:sp>
            <p:nvSpPr>
              <p:cNvPr id="42" name="ZoneTexte 41"/>
              <p:cNvSpPr txBox="1"/>
              <p:nvPr/>
            </p:nvSpPr>
            <p:spPr>
              <a:xfrm>
                <a:off x="10477603" y="3268310"/>
                <a:ext cx="65296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03</a:t>
                </a:r>
                <a:endParaRPr lang="fr-CM" sz="2400" b="1" dirty="0">
                  <a:latin typeface="Times New Roman" panose="02020603050405020304" pitchFamily="18" charset="0"/>
                  <a:cs typeface="Times New Roman" panose="02020603050405020304" pitchFamily="18" charset="0"/>
                </a:endParaRPr>
              </a:p>
            </p:txBody>
          </p:sp>
        </p:grpSp>
        <p:sp>
          <p:nvSpPr>
            <p:cNvPr id="60" name="ZoneTexte 59"/>
            <p:cNvSpPr txBox="1"/>
            <p:nvPr/>
          </p:nvSpPr>
          <p:spPr>
            <a:xfrm>
              <a:off x="4076906" y="2062023"/>
              <a:ext cx="571669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SOLUTION A LA PROBLEMATIQUE</a:t>
              </a:r>
              <a:endParaRPr lang="fr-CM" sz="2400" b="1" dirty="0">
                <a:latin typeface="Times New Roman" panose="02020603050405020304" pitchFamily="18" charset="0"/>
                <a:cs typeface="Times New Roman" panose="02020603050405020304" pitchFamily="18" charset="0"/>
              </a:endParaRPr>
            </a:p>
          </p:txBody>
        </p:sp>
      </p:grpSp>
      <p:grpSp>
        <p:nvGrpSpPr>
          <p:cNvPr id="9" name="Groupe 8">
            <a:extLst>
              <a:ext uri="{FF2B5EF4-FFF2-40B4-BE49-F238E27FC236}">
                <a16:creationId xmlns:a16="http://schemas.microsoft.com/office/drawing/2014/main" id="{ACF48B15-636D-EF05-883E-F55D7ACA7B8C}"/>
              </a:ext>
            </a:extLst>
          </p:cNvPr>
          <p:cNvGrpSpPr/>
          <p:nvPr/>
        </p:nvGrpSpPr>
        <p:grpSpPr>
          <a:xfrm>
            <a:off x="4330028" y="3648894"/>
            <a:ext cx="6425057" cy="565153"/>
            <a:chOff x="4407239" y="4074554"/>
            <a:chExt cx="6536465" cy="565153"/>
          </a:xfrm>
        </p:grpSpPr>
        <p:grpSp>
          <p:nvGrpSpPr>
            <p:cNvPr id="62" name="Groupe 61"/>
            <p:cNvGrpSpPr/>
            <p:nvPr/>
          </p:nvGrpSpPr>
          <p:grpSpPr>
            <a:xfrm>
              <a:off x="4472724" y="4074554"/>
              <a:ext cx="6470980" cy="565153"/>
              <a:chOff x="4089286" y="4251812"/>
              <a:chExt cx="6314440" cy="565153"/>
            </a:xfrm>
          </p:grpSpPr>
          <p:sp>
            <p:nvSpPr>
              <p:cNvPr id="44" name="Rectangle à coins arrondis 43"/>
              <p:cNvSpPr/>
              <p:nvPr/>
            </p:nvSpPr>
            <p:spPr>
              <a:xfrm>
                <a:off x="4089286" y="4276965"/>
                <a:ext cx="6065520" cy="54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CM"/>
              </a:p>
            </p:txBody>
          </p:sp>
          <p:sp>
            <p:nvSpPr>
              <p:cNvPr id="46" name="Rectangle à coins arrondis 45"/>
              <p:cNvSpPr/>
              <p:nvPr/>
            </p:nvSpPr>
            <p:spPr>
              <a:xfrm rot="2751025">
                <a:off x="9751930" y="4251812"/>
                <a:ext cx="540000" cy="54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M" dirty="0"/>
              </a:p>
            </p:txBody>
          </p:sp>
          <p:sp>
            <p:nvSpPr>
              <p:cNvPr id="47" name="ZoneTexte 46"/>
              <p:cNvSpPr txBox="1"/>
              <p:nvPr/>
            </p:nvSpPr>
            <p:spPr>
              <a:xfrm>
                <a:off x="9750763" y="4267019"/>
                <a:ext cx="65296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05</a:t>
                </a:r>
                <a:endParaRPr lang="fr-CM" sz="2400" b="1" dirty="0">
                  <a:latin typeface="Times New Roman" panose="02020603050405020304" pitchFamily="18" charset="0"/>
                  <a:cs typeface="Times New Roman" panose="02020603050405020304" pitchFamily="18" charset="0"/>
                </a:endParaRPr>
              </a:p>
            </p:txBody>
          </p:sp>
        </p:grpSp>
        <p:sp>
          <p:nvSpPr>
            <p:cNvPr id="63" name="ZoneTexte 62"/>
            <p:cNvSpPr txBox="1"/>
            <p:nvPr/>
          </p:nvSpPr>
          <p:spPr>
            <a:xfrm>
              <a:off x="4407239" y="4134688"/>
              <a:ext cx="606552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MODELISATION ET ANALYSES STATS</a:t>
              </a:r>
              <a:endParaRPr lang="fr-CM" sz="2400" b="1" dirty="0">
                <a:latin typeface="Times New Roman" panose="02020603050405020304" pitchFamily="18" charset="0"/>
                <a:cs typeface="Times New Roman" panose="02020603050405020304" pitchFamily="18" charset="0"/>
              </a:endParaRPr>
            </a:p>
          </p:txBody>
        </p:sp>
      </p:grpSp>
      <p:grpSp>
        <p:nvGrpSpPr>
          <p:cNvPr id="24" name="Groupe 23">
            <a:extLst>
              <a:ext uri="{FF2B5EF4-FFF2-40B4-BE49-F238E27FC236}">
                <a16:creationId xmlns:a16="http://schemas.microsoft.com/office/drawing/2014/main" id="{E68F9024-D15E-7502-FAC7-F757C8EBC9BE}"/>
              </a:ext>
            </a:extLst>
          </p:cNvPr>
          <p:cNvGrpSpPr/>
          <p:nvPr/>
        </p:nvGrpSpPr>
        <p:grpSpPr>
          <a:xfrm>
            <a:off x="3911330" y="353795"/>
            <a:ext cx="4314746" cy="540000"/>
            <a:chOff x="3911330" y="353795"/>
            <a:chExt cx="4314746" cy="540000"/>
          </a:xfrm>
        </p:grpSpPr>
        <p:grpSp>
          <p:nvGrpSpPr>
            <p:cNvPr id="70" name="Groupe 69"/>
            <p:cNvGrpSpPr/>
            <p:nvPr/>
          </p:nvGrpSpPr>
          <p:grpSpPr>
            <a:xfrm>
              <a:off x="3911330" y="353795"/>
              <a:ext cx="4314746" cy="540000"/>
              <a:chOff x="3889576" y="1568356"/>
              <a:chExt cx="4314746" cy="540000"/>
            </a:xfrm>
          </p:grpSpPr>
          <p:grpSp>
            <p:nvGrpSpPr>
              <p:cNvPr id="20" name="Groupe 19"/>
              <p:cNvGrpSpPr/>
              <p:nvPr/>
            </p:nvGrpSpPr>
            <p:grpSpPr>
              <a:xfrm>
                <a:off x="3889576" y="1568356"/>
                <a:ext cx="4229999" cy="540000"/>
                <a:chOff x="5948576" y="1785402"/>
                <a:chExt cx="4229999" cy="540000"/>
              </a:xfrm>
            </p:grpSpPr>
            <p:sp>
              <p:nvSpPr>
                <p:cNvPr id="18" name="Rectangle à coins arrondis 17"/>
                <p:cNvSpPr/>
                <p:nvPr/>
              </p:nvSpPr>
              <p:spPr>
                <a:xfrm>
                  <a:off x="5948576" y="1785402"/>
                  <a:ext cx="3960000" cy="54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CM"/>
                </a:p>
              </p:txBody>
            </p:sp>
            <p:sp>
              <p:nvSpPr>
                <p:cNvPr id="19" name="Rectangle à coins arrondis 18"/>
                <p:cNvSpPr/>
                <p:nvPr/>
              </p:nvSpPr>
              <p:spPr>
                <a:xfrm rot="2663472">
                  <a:off x="9638575" y="1785402"/>
                  <a:ext cx="540000" cy="54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M"/>
                </a:p>
              </p:txBody>
            </p:sp>
          </p:grpSp>
          <p:sp>
            <p:nvSpPr>
              <p:cNvPr id="21" name="ZoneTexte 20"/>
              <p:cNvSpPr txBox="1"/>
              <p:nvPr/>
            </p:nvSpPr>
            <p:spPr>
              <a:xfrm>
                <a:off x="7607071" y="1615191"/>
                <a:ext cx="59725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01</a:t>
                </a:r>
                <a:endParaRPr lang="fr-CM" sz="2400" b="1" dirty="0">
                  <a:latin typeface="Times New Roman" panose="02020603050405020304" pitchFamily="18" charset="0"/>
                  <a:cs typeface="Times New Roman" panose="02020603050405020304" pitchFamily="18" charset="0"/>
                </a:endParaRPr>
              </a:p>
            </p:txBody>
          </p:sp>
        </p:grpSp>
        <p:sp>
          <p:nvSpPr>
            <p:cNvPr id="71" name="ZoneTexte 70"/>
            <p:cNvSpPr txBox="1"/>
            <p:nvPr/>
          </p:nvSpPr>
          <p:spPr>
            <a:xfrm>
              <a:off x="4450903" y="387917"/>
              <a:ext cx="268386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INTRODUCTION</a:t>
              </a:r>
              <a:endParaRPr lang="fr-CM" sz="2400" b="1" dirty="0">
                <a:latin typeface="Times New Roman" panose="02020603050405020304" pitchFamily="18" charset="0"/>
                <a:cs typeface="Times New Roman" panose="02020603050405020304" pitchFamily="18" charset="0"/>
              </a:endParaRPr>
            </a:p>
          </p:txBody>
        </p:sp>
      </p:grpSp>
      <p:grpSp>
        <p:nvGrpSpPr>
          <p:cNvPr id="8" name="Groupe 7">
            <a:extLst>
              <a:ext uri="{FF2B5EF4-FFF2-40B4-BE49-F238E27FC236}">
                <a16:creationId xmlns:a16="http://schemas.microsoft.com/office/drawing/2014/main" id="{0A3EB795-92AA-7DCA-2E1B-A04882328C13}"/>
              </a:ext>
            </a:extLst>
          </p:cNvPr>
          <p:cNvGrpSpPr/>
          <p:nvPr/>
        </p:nvGrpSpPr>
        <p:grpSpPr>
          <a:xfrm>
            <a:off x="4004077" y="4458133"/>
            <a:ext cx="5927465" cy="546320"/>
            <a:chOff x="4004077" y="4458133"/>
            <a:chExt cx="6625687" cy="546320"/>
          </a:xfrm>
        </p:grpSpPr>
        <p:grpSp>
          <p:nvGrpSpPr>
            <p:cNvPr id="54" name="Groupe 53"/>
            <p:cNvGrpSpPr/>
            <p:nvPr/>
          </p:nvGrpSpPr>
          <p:grpSpPr>
            <a:xfrm>
              <a:off x="4004077" y="4458133"/>
              <a:ext cx="6625687" cy="546320"/>
              <a:chOff x="3924687" y="4885111"/>
              <a:chExt cx="4258626" cy="546320"/>
            </a:xfrm>
          </p:grpSpPr>
          <p:grpSp>
            <p:nvGrpSpPr>
              <p:cNvPr id="25" name="Groupe 24"/>
              <p:cNvGrpSpPr/>
              <p:nvPr/>
            </p:nvGrpSpPr>
            <p:grpSpPr>
              <a:xfrm>
                <a:off x="3924687" y="4885111"/>
                <a:ext cx="4034844" cy="546320"/>
                <a:chOff x="6017814" y="1339996"/>
                <a:chExt cx="4034844" cy="546320"/>
              </a:xfrm>
            </p:grpSpPr>
            <p:sp>
              <p:nvSpPr>
                <p:cNvPr id="28" name="Rectangle à coins arrondis 27"/>
                <p:cNvSpPr/>
                <p:nvPr/>
              </p:nvSpPr>
              <p:spPr>
                <a:xfrm>
                  <a:off x="6017814" y="1340619"/>
                  <a:ext cx="3960000" cy="52177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CM"/>
                </a:p>
              </p:txBody>
            </p:sp>
            <p:sp>
              <p:nvSpPr>
                <p:cNvPr id="29" name="Rectangle à coins arrondis 28"/>
                <p:cNvSpPr/>
                <p:nvPr/>
              </p:nvSpPr>
              <p:spPr>
                <a:xfrm rot="2663472">
                  <a:off x="9647832" y="1339996"/>
                  <a:ext cx="404826" cy="5463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M"/>
                </a:p>
              </p:txBody>
            </p:sp>
          </p:grpSp>
          <p:sp>
            <p:nvSpPr>
              <p:cNvPr id="26" name="ZoneTexte 25"/>
              <p:cNvSpPr txBox="1"/>
              <p:nvPr/>
            </p:nvSpPr>
            <p:spPr>
              <a:xfrm>
                <a:off x="7586062" y="4939694"/>
                <a:ext cx="59725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06</a:t>
                </a:r>
                <a:endParaRPr lang="fr-CM" sz="2400" b="1" dirty="0">
                  <a:latin typeface="Times New Roman" panose="02020603050405020304" pitchFamily="18" charset="0"/>
                  <a:cs typeface="Times New Roman" panose="02020603050405020304" pitchFamily="18" charset="0"/>
                </a:endParaRPr>
              </a:p>
            </p:txBody>
          </p:sp>
        </p:grpSp>
        <p:sp>
          <p:nvSpPr>
            <p:cNvPr id="72" name="ZoneTexte 71"/>
            <p:cNvSpPr txBox="1"/>
            <p:nvPr/>
          </p:nvSpPr>
          <p:spPr>
            <a:xfrm>
              <a:off x="4189004" y="4493041"/>
              <a:ext cx="551154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ENTRAINEMENT DU MODELE</a:t>
              </a:r>
              <a:endParaRPr lang="fr-CM" sz="2400" b="1" dirty="0">
                <a:latin typeface="Times New Roman" panose="02020603050405020304" pitchFamily="18" charset="0"/>
                <a:cs typeface="Times New Roman" panose="02020603050405020304" pitchFamily="18" charset="0"/>
              </a:endParaRPr>
            </a:p>
          </p:txBody>
        </p:sp>
      </p:grpSp>
      <p:grpSp>
        <p:nvGrpSpPr>
          <p:cNvPr id="45" name="Groupe 44">
            <a:extLst>
              <a:ext uri="{FF2B5EF4-FFF2-40B4-BE49-F238E27FC236}">
                <a16:creationId xmlns:a16="http://schemas.microsoft.com/office/drawing/2014/main" id="{49CC2491-BEDC-02AC-7F11-8D122EE2E823}"/>
              </a:ext>
            </a:extLst>
          </p:cNvPr>
          <p:cNvGrpSpPr/>
          <p:nvPr/>
        </p:nvGrpSpPr>
        <p:grpSpPr>
          <a:xfrm>
            <a:off x="4394397" y="2825818"/>
            <a:ext cx="5692979" cy="565153"/>
            <a:chOff x="4394397" y="2825818"/>
            <a:chExt cx="5692979" cy="565153"/>
          </a:xfrm>
        </p:grpSpPr>
        <p:grpSp>
          <p:nvGrpSpPr>
            <p:cNvPr id="2" name="Groupe 1">
              <a:extLst>
                <a:ext uri="{FF2B5EF4-FFF2-40B4-BE49-F238E27FC236}">
                  <a16:creationId xmlns:a16="http://schemas.microsoft.com/office/drawing/2014/main" id="{ECEB147C-0518-64E1-5CFF-971360BE6E37}"/>
                </a:ext>
              </a:extLst>
            </p:cNvPr>
            <p:cNvGrpSpPr/>
            <p:nvPr/>
          </p:nvGrpSpPr>
          <p:grpSpPr>
            <a:xfrm>
              <a:off x="4394397" y="2825818"/>
              <a:ext cx="5692979" cy="565153"/>
              <a:chOff x="4089286" y="4251812"/>
              <a:chExt cx="6335671" cy="565153"/>
            </a:xfrm>
          </p:grpSpPr>
          <p:sp>
            <p:nvSpPr>
              <p:cNvPr id="3" name="Rectangle à coins arrondis 43">
                <a:extLst>
                  <a:ext uri="{FF2B5EF4-FFF2-40B4-BE49-F238E27FC236}">
                    <a16:creationId xmlns:a16="http://schemas.microsoft.com/office/drawing/2014/main" id="{3B5FA4BD-21E6-37FD-6E96-CABEB41841D7}"/>
                  </a:ext>
                </a:extLst>
              </p:cNvPr>
              <p:cNvSpPr/>
              <p:nvPr/>
            </p:nvSpPr>
            <p:spPr>
              <a:xfrm>
                <a:off x="4089286" y="4276965"/>
                <a:ext cx="6065520" cy="54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CM"/>
              </a:p>
            </p:txBody>
          </p:sp>
          <p:sp>
            <p:nvSpPr>
              <p:cNvPr id="4" name="Rectangle à coins arrondis 45">
                <a:extLst>
                  <a:ext uri="{FF2B5EF4-FFF2-40B4-BE49-F238E27FC236}">
                    <a16:creationId xmlns:a16="http://schemas.microsoft.com/office/drawing/2014/main" id="{CBB98EEC-1762-32DC-7069-CB7B3F5CEF9A}"/>
                  </a:ext>
                </a:extLst>
              </p:cNvPr>
              <p:cNvSpPr/>
              <p:nvPr/>
            </p:nvSpPr>
            <p:spPr>
              <a:xfrm rot="2751025">
                <a:off x="9751930" y="4251812"/>
                <a:ext cx="540000" cy="54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M" dirty="0"/>
              </a:p>
            </p:txBody>
          </p:sp>
          <p:sp>
            <p:nvSpPr>
              <p:cNvPr id="5" name="ZoneTexte 4">
                <a:extLst>
                  <a:ext uri="{FF2B5EF4-FFF2-40B4-BE49-F238E27FC236}">
                    <a16:creationId xmlns:a16="http://schemas.microsoft.com/office/drawing/2014/main" id="{53F63BCA-A9F8-BF8F-6682-07915799648F}"/>
                  </a:ext>
                </a:extLst>
              </p:cNvPr>
              <p:cNvSpPr txBox="1"/>
              <p:nvPr/>
            </p:nvSpPr>
            <p:spPr>
              <a:xfrm>
                <a:off x="9750763" y="4267019"/>
                <a:ext cx="674194"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04</a:t>
                </a:r>
                <a:endParaRPr lang="fr-CM" sz="2400" b="1" dirty="0">
                  <a:latin typeface="Times New Roman" panose="02020603050405020304" pitchFamily="18" charset="0"/>
                  <a:cs typeface="Times New Roman" panose="02020603050405020304" pitchFamily="18" charset="0"/>
                </a:endParaRPr>
              </a:p>
            </p:txBody>
          </p:sp>
        </p:grpSp>
        <p:sp>
          <p:nvSpPr>
            <p:cNvPr id="7" name="ZoneTexte 6">
              <a:extLst>
                <a:ext uri="{FF2B5EF4-FFF2-40B4-BE49-F238E27FC236}">
                  <a16:creationId xmlns:a16="http://schemas.microsoft.com/office/drawing/2014/main" id="{6ED20815-DD2F-D16B-F00A-5EA0DC06FE4A}"/>
                </a:ext>
              </a:extLst>
            </p:cNvPr>
            <p:cNvSpPr txBox="1"/>
            <p:nvPr/>
          </p:nvSpPr>
          <p:spPr>
            <a:xfrm>
              <a:off x="4622055" y="2897995"/>
              <a:ext cx="4514989"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REVUE DE LA LITTERATURE</a:t>
              </a:r>
              <a:endParaRPr lang="fr-CM" sz="2400" b="1" dirty="0">
                <a:latin typeface="Times New Roman" panose="02020603050405020304" pitchFamily="18" charset="0"/>
                <a:cs typeface="Times New Roman" panose="02020603050405020304" pitchFamily="18" charset="0"/>
              </a:endParaRPr>
            </a:p>
          </p:txBody>
        </p:sp>
      </p:grpSp>
      <p:grpSp>
        <p:nvGrpSpPr>
          <p:cNvPr id="10" name="Groupe 9">
            <a:extLst>
              <a:ext uri="{FF2B5EF4-FFF2-40B4-BE49-F238E27FC236}">
                <a16:creationId xmlns:a16="http://schemas.microsoft.com/office/drawing/2014/main" id="{52F6477C-7420-842A-441C-9C59A5B68A52}"/>
              </a:ext>
            </a:extLst>
          </p:cNvPr>
          <p:cNvGrpSpPr/>
          <p:nvPr/>
        </p:nvGrpSpPr>
        <p:grpSpPr>
          <a:xfrm>
            <a:off x="3756384" y="5264804"/>
            <a:ext cx="7109425" cy="565153"/>
            <a:chOff x="4470524" y="4074554"/>
            <a:chExt cx="6473180" cy="565153"/>
          </a:xfrm>
        </p:grpSpPr>
        <p:grpSp>
          <p:nvGrpSpPr>
            <p:cNvPr id="11" name="Groupe 10">
              <a:extLst>
                <a:ext uri="{FF2B5EF4-FFF2-40B4-BE49-F238E27FC236}">
                  <a16:creationId xmlns:a16="http://schemas.microsoft.com/office/drawing/2014/main" id="{661B1BD8-989A-523D-8D15-481B953EAD08}"/>
                </a:ext>
              </a:extLst>
            </p:cNvPr>
            <p:cNvGrpSpPr/>
            <p:nvPr/>
          </p:nvGrpSpPr>
          <p:grpSpPr>
            <a:xfrm>
              <a:off x="4472724" y="4074554"/>
              <a:ext cx="6470980" cy="565153"/>
              <a:chOff x="4089286" y="4251812"/>
              <a:chExt cx="6314440" cy="565153"/>
            </a:xfrm>
          </p:grpSpPr>
          <p:sp>
            <p:nvSpPr>
              <p:cNvPr id="13" name="Rectangle à coins arrondis 43">
                <a:extLst>
                  <a:ext uri="{FF2B5EF4-FFF2-40B4-BE49-F238E27FC236}">
                    <a16:creationId xmlns:a16="http://schemas.microsoft.com/office/drawing/2014/main" id="{2C33257D-6CD1-1BDF-1935-4B57F5B62C19}"/>
                  </a:ext>
                </a:extLst>
              </p:cNvPr>
              <p:cNvSpPr/>
              <p:nvPr/>
            </p:nvSpPr>
            <p:spPr>
              <a:xfrm>
                <a:off x="4089286" y="4276965"/>
                <a:ext cx="6065520" cy="54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CM"/>
              </a:p>
            </p:txBody>
          </p:sp>
          <p:sp>
            <p:nvSpPr>
              <p:cNvPr id="22" name="Rectangle à coins arrondis 45">
                <a:extLst>
                  <a:ext uri="{FF2B5EF4-FFF2-40B4-BE49-F238E27FC236}">
                    <a16:creationId xmlns:a16="http://schemas.microsoft.com/office/drawing/2014/main" id="{E90BF7BF-3470-5523-6AD1-C156DB9B87AA}"/>
                  </a:ext>
                </a:extLst>
              </p:cNvPr>
              <p:cNvSpPr/>
              <p:nvPr/>
            </p:nvSpPr>
            <p:spPr>
              <a:xfrm rot="2751025">
                <a:off x="9751930" y="4251812"/>
                <a:ext cx="540000" cy="54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M" dirty="0"/>
              </a:p>
            </p:txBody>
          </p:sp>
          <p:sp>
            <p:nvSpPr>
              <p:cNvPr id="23" name="ZoneTexte 22">
                <a:extLst>
                  <a:ext uri="{FF2B5EF4-FFF2-40B4-BE49-F238E27FC236}">
                    <a16:creationId xmlns:a16="http://schemas.microsoft.com/office/drawing/2014/main" id="{47057739-EABA-D4EA-8858-4C80B9688A9B}"/>
                  </a:ext>
                </a:extLst>
              </p:cNvPr>
              <p:cNvSpPr txBox="1"/>
              <p:nvPr/>
            </p:nvSpPr>
            <p:spPr>
              <a:xfrm>
                <a:off x="9750763" y="4267019"/>
                <a:ext cx="65296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07</a:t>
                </a:r>
                <a:endParaRPr lang="fr-CM" sz="2400" b="1" dirty="0">
                  <a:latin typeface="Times New Roman" panose="02020603050405020304" pitchFamily="18" charset="0"/>
                  <a:cs typeface="Times New Roman" panose="02020603050405020304" pitchFamily="18" charset="0"/>
                </a:endParaRPr>
              </a:p>
            </p:txBody>
          </p:sp>
        </p:grpSp>
        <p:sp>
          <p:nvSpPr>
            <p:cNvPr id="12" name="ZoneTexte 11">
              <a:extLst>
                <a:ext uri="{FF2B5EF4-FFF2-40B4-BE49-F238E27FC236}">
                  <a16:creationId xmlns:a16="http://schemas.microsoft.com/office/drawing/2014/main" id="{0B65C634-627F-457F-DBFF-BA954B27C77A}"/>
                </a:ext>
              </a:extLst>
            </p:cNvPr>
            <p:cNvSpPr txBox="1"/>
            <p:nvPr/>
          </p:nvSpPr>
          <p:spPr>
            <a:xfrm>
              <a:off x="4470524" y="4135055"/>
              <a:ext cx="606552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RESULTATS &amp; EVALUATION DU MODELE</a:t>
              </a:r>
              <a:endParaRPr lang="fr-CM" sz="2400" b="1" dirty="0">
                <a:latin typeface="Times New Roman" panose="02020603050405020304" pitchFamily="18" charset="0"/>
                <a:cs typeface="Times New Roman" panose="02020603050405020304" pitchFamily="18" charset="0"/>
              </a:endParaRPr>
            </a:p>
          </p:txBody>
        </p:sp>
      </p:grpSp>
      <p:grpSp>
        <p:nvGrpSpPr>
          <p:cNvPr id="27" name="Groupe 26">
            <a:extLst>
              <a:ext uri="{FF2B5EF4-FFF2-40B4-BE49-F238E27FC236}">
                <a16:creationId xmlns:a16="http://schemas.microsoft.com/office/drawing/2014/main" id="{DA41D954-8CA5-F0A7-17F8-EF806C7EAAF8}"/>
              </a:ext>
            </a:extLst>
          </p:cNvPr>
          <p:cNvGrpSpPr/>
          <p:nvPr/>
        </p:nvGrpSpPr>
        <p:grpSpPr>
          <a:xfrm>
            <a:off x="3756384" y="6132776"/>
            <a:ext cx="3872441" cy="542613"/>
            <a:chOff x="3603984" y="5980376"/>
            <a:chExt cx="4171066" cy="542613"/>
          </a:xfrm>
        </p:grpSpPr>
        <p:grpSp>
          <p:nvGrpSpPr>
            <p:cNvPr id="31" name="Groupe 30">
              <a:extLst>
                <a:ext uri="{FF2B5EF4-FFF2-40B4-BE49-F238E27FC236}">
                  <a16:creationId xmlns:a16="http://schemas.microsoft.com/office/drawing/2014/main" id="{01F0405B-BB49-272B-795C-D8DEB76686F0}"/>
                </a:ext>
              </a:extLst>
            </p:cNvPr>
            <p:cNvGrpSpPr/>
            <p:nvPr/>
          </p:nvGrpSpPr>
          <p:grpSpPr>
            <a:xfrm>
              <a:off x="3603984" y="5980376"/>
              <a:ext cx="4171066" cy="542613"/>
              <a:chOff x="3582230" y="7194937"/>
              <a:chExt cx="4171066" cy="542613"/>
            </a:xfrm>
          </p:grpSpPr>
          <p:grpSp>
            <p:nvGrpSpPr>
              <p:cNvPr id="35" name="Groupe 34">
                <a:extLst>
                  <a:ext uri="{FF2B5EF4-FFF2-40B4-BE49-F238E27FC236}">
                    <a16:creationId xmlns:a16="http://schemas.microsoft.com/office/drawing/2014/main" id="{06AFBFB7-4872-70E8-DD89-99B87B51AC17}"/>
                  </a:ext>
                </a:extLst>
              </p:cNvPr>
              <p:cNvGrpSpPr/>
              <p:nvPr/>
            </p:nvGrpSpPr>
            <p:grpSpPr>
              <a:xfrm>
                <a:off x="3582230" y="7194937"/>
                <a:ext cx="4101151" cy="542613"/>
                <a:chOff x="5641230" y="7411983"/>
                <a:chExt cx="4101151" cy="542613"/>
              </a:xfrm>
            </p:grpSpPr>
            <p:sp>
              <p:nvSpPr>
                <p:cNvPr id="37" name="Rectangle à coins arrondis 17">
                  <a:extLst>
                    <a:ext uri="{FF2B5EF4-FFF2-40B4-BE49-F238E27FC236}">
                      <a16:creationId xmlns:a16="http://schemas.microsoft.com/office/drawing/2014/main" id="{E02B255F-3F46-6C87-FB22-648FE7433943}"/>
                    </a:ext>
                  </a:extLst>
                </p:cNvPr>
                <p:cNvSpPr/>
                <p:nvPr/>
              </p:nvSpPr>
              <p:spPr>
                <a:xfrm>
                  <a:off x="5641230" y="7414596"/>
                  <a:ext cx="3960000" cy="5400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fr-CM"/>
                </a:p>
              </p:txBody>
            </p:sp>
            <p:sp>
              <p:nvSpPr>
                <p:cNvPr id="38" name="Rectangle à coins arrondis 18">
                  <a:extLst>
                    <a:ext uri="{FF2B5EF4-FFF2-40B4-BE49-F238E27FC236}">
                      <a16:creationId xmlns:a16="http://schemas.microsoft.com/office/drawing/2014/main" id="{1A618D3D-2A3A-C546-2526-FBD1C2618120}"/>
                    </a:ext>
                  </a:extLst>
                </p:cNvPr>
                <p:cNvSpPr/>
                <p:nvPr/>
              </p:nvSpPr>
              <p:spPr>
                <a:xfrm rot="2663472">
                  <a:off x="9202381" y="7411983"/>
                  <a:ext cx="540000" cy="54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M"/>
                </a:p>
              </p:txBody>
            </p:sp>
          </p:grpSp>
          <p:sp>
            <p:nvSpPr>
              <p:cNvPr id="36" name="ZoneTexte 35">
                <a:extLst>
                  <a:ext uri="{FF2B5EF4-FFF2-40B4-BE49-F238E27FC236}">
                    <a16:creationId xmlns:a16="http://schemas.microsoft.com/office/drawing/2014/main" id="{C6924F0F-627C-0AFD-1798-97E557CD9FAF}"/>
                  </a:ext>
                </a:extLst>
              </p:cNvPr>
              <p:cNvSpPr txBox="1"/>
              <p:nvPr/>
            </p:nvSpPr>
            <p:spPr>
              <a:xfrm>
                <a:off x="7156045" y="7234104"/>
                <a:ext cx="59725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08</a:t>
                </a:r>
                <a:endParaRPr lang="fr-CM" sz="2400" b="1" dirty="0">
                  <a:latin typeface="Times New Roman" panose="02020603050405020304" pitchFamily="18" charset="0"/>
                  <a:cs typeface="Times New Roman" panose="02020603050405020304" pitchFamily="18" charset="0"/>
                </a:endParaRPr>
              </a:p>
            </p:txBody>
          </p:sp>
        </p:grpSp>
        <p:sp>
          <p:nvSpPr>
            <p:cNvPr id="34" name="ZoneTexte 33">
              <a:extLst>
                <a:ext uri="{FF2B5EF4-FFF2-40B4-BE49-F238E27FC236}">
                  <a16:creationId xmlns:a16="http://schemas.microsoft.com/office/drawing/2014/main" id="{616FD31A-60F9-E013-34FA-37B71EE2B249}"/>
                </a:ext>
              </a:extLst>
            </p:cNvPr>
            <p:cNvSpPr txBox="1"/>
            <p:nvPr/>
          </p:nvSpPr>
          <p:spPr>
            <a:xfrm>
              <a:off x="4087358" y="6008400"/>
              <a:ext cx="268386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CONCLUSION</a:t>
              </a:r>
              <a:endParaRPr lang="fr-CM" sz="2400" b="1" dirty="0">
                <a:latin typeface="Times New Roman" panose="02020603050405020304" pitchFamily="18" charset="0"/>
                <a:cs typeface="Times New Roman" panose="02020603050405020304" pitchFamily="18" charset="0"/>
              </a:endParaRPr>
            </a:p>
          </p:txBody>
        </p:sp>
      </p:grpSp>
      <p:pic>
        <p:nvPicPr>
          <p:cNvPr id="6" name="Image 15">
            <a:extLst>
              <a:ext uri="{FF2B5EF4-FFF2-40B4-BE49-F238E27FC236}">
                <a16:creationId xmlns:a16="http://schemas.microsoft.com/office/drawing/2014/main" id="{4339963F-BFED-F98A-39C0-99370F0071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78" y="6873"/>
            <a:ext cx="2148655" cy="84211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500" fill="hold"/>
                                        <p:tgtEl>
                                          <p:spTgt spid="24"/>
                                        </p:tgtEl>
                                        <p:attrNameLst>
                                          <p:attrName>ppt_x</p:attrName>
                                        </p:attrNameLst>
                                      </p:cBhvr>
                                      <p:tavLst>
                                        <p:tav tm="0">
                                          <p:val>
                                            <p:strVal val="#ppt_x"/>
                                          </p:val>
                                        </p:tav>
                                        <p:tav tm="100000">
                                          <p:val>
                                            <p:strVal val="#ppt_x"/>
                                          </p:val>
                                        </p:tav>
                                      </p:tavLst>
                                    </p:anim>
                                    <p:anim calcmode="lin" valueType="num">
                                      <p:cBhvr additive="base">
                                        <p:cTn id="15"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1000"/>
                                        <p:tgtEl>
                                          <p:spTgt spid="40"/>
                                        </p:tgtEl>
                                      </p:cBhvr>
                                    </p:animEffect>
                                    <p:anim calcmode="lin" valueType="num">
                                      <p:cBhvr>
                                        <p:cTn id="21" dur="1000" fill="hold"/>
                                        <p:tgtEl>
                                          <p:spTgt spid="40"/>
                                        </p:tgtEl>
                                        <p:attrNameLst>
                                          <p:attrName>ppt_x</p:attrName>
                                        </p:attrNameLst>
                                      </p:cBhvr>
                                      <p:tavLst>
                                        <p:tav tm="0">
                                          <p:val>
                                            <p:strVal val="#ppt_x"/>
                                          </p:val>
                                        </p:tav>
                                        <p:tav tm="100000">
                                          <p:val>
                                            <p:strVal val="#ppt_x"/>
                                          </p:val>
                                        </p:tav>
                                      </p:tavLst>
                                    </p:anim>
                                    <p:anim calcmode="lin" valueType="num">
                                      <p:cBhvr>
                                        <p:cTn id="22"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fade">
                                      <p:cBhvr>
                                        <p:cTn id="27" dur="1000"/>
                                        <p:tgtEl>
                                          <p:spTgt spid="43"/>
                                        </p:tgtEl>
                                      </p:cBhvr>
                                    </p:animEffect>
                                    <p:anim calcmode="lin" valueType="num">
                                      <p:cBhvr>
                                        <p:cTn id="28" dur="1000" fill="hold"/>
                                        <p:tgtEl>
                                          <p:spTgt spid="43"/>
                                        </p:tgtEl>
                                        <p:attrNameLst>
                                          <p:attrName>ppt_x</p:attrName>
                                        </p:attrNameLst>
                                      </p:cBhvr>
                                      <p:tavLst>
                                        <p:tav tm="0">
                                          <p:val>
                                            <p:strVal val="#ppt_x"/>
                                          </p:val>
                                        </p:tav>
                                        <p:tav tm="100000">
                                          <p:val>
                                            <p:strVal val="#ppt_x"/>
                                          </p:val>
                                        </p:tav>
                                      </p:tavLst>
                                    </p:anim>
                                    <p:anim calcmode="lin" valueType="num">
                                      <p:cBhvr>
                                        <p:cTn id="29"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1000"/>
                                        <p:tgtEl>
                                          <p:spTgt spid="45"/>
                                        </p:tgtEl>
                                      </p:cBhvr>
                                    </p:animEffect>
                                    <p:anim calcmode="lin" valueType="num">
                                      <p:cBhvr>
                                        <p:cTn id="35" dur="1000" fill="hold"/>
                                        <p:tgtEl>
                                          <p:spTgt spid="45"/>
                                        </p:tgtEl>
                                        <p:attrNameLst>
                                          <p:attrName>ppt_x</p:attrName>
                                        </p:attrNameLst>
                                      </p:cBhvr>
                                      <p:tavLst>
                                        <p:tav tm="0">
                                          <p:val>
                                            <p:strVal val="#ppt_x"/>
                                          </p:val>
                                        </p:tav>
                                        <p:tav tm="100000">
                                          <p:val>
                                            <p:strVal val="#ppt_x"/>
                                          </p:val>
                                        </p:tav>
                                      </p:tavLst>
                                    </p:anim>
                                    <p:anim calcmode="lin" valueType="num">
                                      <p:cBhvr>
                                        <p:cTn id="36"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1000"/>
                                        <p:tgtEl>
                                          <p:spTgt spid="9"/>
                                        </p:tgtEl>
                                      </p:cBhvr>
                                    </p:animEffect>
                                    <p:anim calcmode="lin" valueType="num">
                                      <p:cBhvr>
                                        <p:cTn id="42" dur="1000" fill="hold"/>
                                        <p:tgtEl>
                                          <p:spTgt spid="9"/>
                                        </p:tgtEl>
                                        <p:attrNameLst>
                                          <p:attrName>ppt_x</p:attrName>
                                        </p:attrNameLst>
                                      </p:cBhvr>
                                      <p:tavLst>
                                        <p:tav tm="0">
                                          <p:val>
                                            <p:strVal val="#ppt_x"/>
                                          </p:val>
                                        </p:tav>
                                        <p:tav tm="100000">
                                          <p:val>
                                            <p:strVal val="#ppt_x"/>
                                          </p:val>
                                        </p:tav>
                                      </p:tavLst>
                                    </p:anim>
                                    <p:anim calcmode="lin" valueType="num">
                                      <p:cBhvr>
                                        <p:cTn id="4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1000"/>
                                        <p:tgtEl>
                                          <p:spTgt spid="8"/>
                                        </p:tgtEl>
                                      </p:cBhvr>
                                    </p:animEffect>
                                    <p:anim calcmode="lin" valueType="num">
                                      <p:cBhvr>
                                        <p:cTn id="49" dur="1000" fill="hold"/>
                                        <p:tgtEl>
                                          <p:spTgt spid="8"/>
                                        </p:tgtEl>
                                        <p:attrNameLst>
                                          <p:attrName>ppt_x</p:attrName>
                                        </p:attrNameLst>
                                      </p:cBhvr>
                                      <p:tavLst>
                                        <p:tav tm="0">
                                          <p:val>
                                            <p:strVal val="#ppt_x"/>
                                          </p:val>
                                        </p:tav>
                                        <p:tav tm="100000">
                                          <p:val>
                                            <p:strVal val="#ppt_x"/>
                                          </p:val>
                                        </p:tav>
                                      </p:tavLst>
                                    </p:anim>
                                    <p:anim calcmode="lin" valueType="num">
                                      <p:cBhvr>
                                        <p:cTn id="5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1000"/>
                                        <p:tgtEl>
                                          <p:spTgt spid="10"/>
                                        </p:tgtEl>
                                      </p:cBhvr>
                                    </p:animEffect>
                                    <p:anim calcmode="lin" valueType="num">
                                      <p:cBhvr>
                                        <p:cTn id="56" dur="1000" fill="hold"/>
                                        <p:tgtEl>
                                          <p:spTgt spid="10"/>
                                        </p:tgtEl>
                                        <p:attrNameLst>
                                          <p:attrName>ppt_x</p:attrName>
                                        </p:attrNameLst>
                                      </p:cBhvr>
                                      <p:tavLst>
                                        <p:tav tm="0">
                                          <p:val>
                                            <p:strVal val="#ppt_x"/>
                                          </p:val>
                                        </p:tav>
                                        <p:tav tm="100000">
                                          <p:val>
                                            <p:strVal val="#ppt_x"/>
                                          </p:val>
                                        </p:tav>
                                      </p:tavLst>
                                    </p:anim>
                                    <p:anim calcmode="lin" valueType="num">
                                      <p:cBhvr>
                                        <p:cTn id="5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1000"/>
                                        <p:tgtEl>
                                          <p:spTgt spid="27"/>
                                        </p:tgtEl>
                                      </p:cBhvr>
                                    </p:animEffect>
                                    <p:anim calcmode="lin" valueType="num">
                                      <p:cBhvr>
                                        <p:cTn id="63" dur="1000" fill="hold"/>
                                        <p:tgtEl>
                                          <p:spTgt spid="27"/>
                                        </p:tgtEl>
                                        <p:attrNameLst>
                                          <p:attrName>ppt_x</p:attrName>
                                        </p:attrNameLst>
                                      </p:cBhvr>
                                      <p:tavLst>
                                        <p:tav tm="0">
                                          <p:val>
                                            <p:strVal val="#ppt_x"/>
                                          </p:val>
                                        </p:tav>
                                        <p:tav tm="100000">
                                          <p:val>
                                            <p:strVal val="#ppt_x"/>
                                          </p:val>
                                        </p:tav>
                                      </p:tavLst>
                                    </p:anim>
                                    <p:anim calcmode="lin" valueType="num">
                                      <p:cBhvr>
                                        <p:cTn id="6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lèche droite à entaille 11"/>
          <p:cNvSpPr/>
          <p:nvPr/>
        </p:nvSpPr>
        <p:spPr>
          <a:xfrm>
            <a:off x="-66466" y="0"/>
            <a:ext cx="2529414" cy="873760"/>
          </a:xfrm>
          <a:prstGeom prst="notchedRightArrow">
            <a:avLst/>
          </a:prstGeom>
          <a:solidFill>
            <a:srgbClr val="FF0000"/>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INTRODUCTION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7" name="Flèche droite à entaille 16"/>
          <p:cNvSpPr/>
          <p:nvPr/>
        </p:nvSpPr>
        <p:spPr>
          <a:xfrm>
            <a:off x="4832563" y="-30480"/>
            <a:ext cx="2620428" cy="934720"/>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SOLUTION AU PROBLEME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8" name="Flèche droite à entaille 17"/>
          <p:cNvSpPr/>
          <p:nvPr/>
        </p:nvSpPr>
        <p:spPr>
          <a:xfrm>
            <a:off x="7227356" y="-72209"/>
            <a:ext cx="2942804"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r>
              <a:rPr lang="en-US" b="1" dirty="0">
                <a:solidFill>
                  <a:schemeClr val="tx1"/>
                </a:solidFill>
                <a:latin typeface="Times New Roman" panose="02020603050405020304" pitchFamily="18" charset="0"/>
                <a:cs typeface="Times New Roman" panose="02020603050405020304" pitchFamily="18" charset="0"/>
              </a:rPr>
              <a:t>CONCEPTION ET REALISATION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9" name="Flèche droite à entaille 18"/>
          <p:cNvSpPr/>
          <p:nvPr/>
        </p:nvSpPr>
        <p:spPr>
          <a:xfrm>
            <a:off x="10002520" y="-103778"/>
            <a:ext cx="2291710"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CONCLUSION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0" name="Flèche droite à entaille 19"/>
          <p:cNvSpPr/>
          <p:nvPr/>
        </p:nvSpPr>
        <p:spPr>
          <a:xfrm>
            <a:off x="2273505" y="-72209"/>
            <a:ext cx="2738972" cy="101817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CONTEXTE ET PROBLEMATIQUE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3" name="Titre 1">
            <a:extLst>
              <a:ext uri="{FF2B5EF4-FFF2-40B4-BE49-F238E27FC236}">
                <a16:creationId xmlns:a16="http://schemas.microsoft.com/office/drawing/2014/main" id="{F376349D-4FCA-90E3-8515-E4AACFB734C1}"/>
              </a:ext>
            </a:extLst>
          </p:cNvPr>
          <p:cNvSpPr txBox="1">
            <a:spLocks/>
          </p:cNvSpPr>
          <p:nvPr/>
        </p:nvSpPr>
        <p:spPr>
          <a:xfrm>
            <a:off x="361635" y="1413774"/>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b="1" dirty="0">
                <a:solidFill>
                  <a:schemeClr val="tx1"/>
                </a:solidFill>
                <a:latin typeface="Times New Roman" panose="02020603050405020304" pitchFamily="18" charset="0"/>
                <a:cs typeface="Times New Roman" panose="02020603050405020304" pitchFamily="18" charset="0"/>
              </a:rPr>
              <a:t>Introduction</a:t>
            </a:r>
          </a:p>
        </p:txBody>
      </p:sp>
      <p:sp>
        <p:nvSpPr>
          <p:cNvPr id="4" name="Espace réservé du contenu 2">
            <a:extLst>
              <a:ext uri="{FF2B5EF4-FFF2-40B4-BE49-F238E27FC236}">
                <a16:creationId xmlns:a16="http://schemas.microsoft.com/office/drawing/2014/main" id="{345CA6E5-6DC6-2E2D-AEB5-94EEB4019C59}"/>
              </a:ext>
            </a:extLst>
          </p:cNvPr>
          <p:cNvSpPr txBox="1">
            <a:spLocks/>
          </p:cNvSpPr>
          <p:nvPr/>
        </p:nvSpPr>
        <p:spPr>
          <a:xfrm>
            <a:off x="237898" y="2601685"/>
            <a:ext cx="8915400" cy="3777622"/>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endParaRPr lang="fr-FR" sz="2000" dirty="0">
              <a:latin typeface="Times New Roman" panose="02020603050405020304" pitchFamily="18" charset="0"/>
              <a:cs typeface="Times New Roman" panose="02020603050405020304" pitchFamily="18" charset="0"/>
            </a:endParaRPr>
          </a:p>
        </p:txBody>
      </p:sp>
      <p:sp>
        <p:nvSpPr>
          <p:cNvPr id="9" name="Espace réservé du contenu 2">
            <a:extLst>
              <a:ext uri="{FF2B5EF4-FFF2-40B4-BE49-F238E27FC236}">
                <a16:creationId xmlns:a16="http://schemas.microsoft.com/office/drawing/2014/main" id="{C15693BF-D3AC-5D9E-D8DA-41D4D5B1B786}"/>
              </a:ext>
            </a:extLst>
          </p:cNvPr>
          <p:cNvSpPr txBox="1">
            <a:spLocks/>
          </p:cNvSpPr>
          <p:nvPr/>
        </p:nvSpPr>
        <p:spPr>
          <a:xfrm>
            <a:off x="361635" y="2116623"/>
            <a:ext cx="8096565"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fr-FR" dirty="0">
                <a:latin typeface="Times New Roman" panose="02020603050405020304" pitchFamily="18" charset="0"/>
                <a:cs typeface="Times New Roman" panose="02020603050405020304" pitchFamily="18" charset="0"/>
              </a:rPr>
              <a:t>La sous-nutrition des enfants de moins de 5 ans demeure un problème critique de santé publique au Cameroun. Les analyses épidémiologiques classiques évaluent souvent le retard de croissance, l'amaigrissement et l'insuffisance pondérale de façon isolée, ce qui masque la charge réelle de la malnutrition et crée des failles dans les programmes d'intervention . Pour dépasser ces limites, ce travail de recherche adopte une approche intégrée basée sur </a:t>
            </a:r>
            <a:r>
              <a:rPr lang="fr-FR" b="1" dirty="0">
                <a:latin typeface="Times New Roman" panose="02020603050405020304" pitchFamily="18" charset="0"/>
                <a:cs typeface="Times New Roman" panose="02020603050405020304" pitchFamily="18" charset="0"/>
              </a:rPr>
              <a:t>l'Indice Composite de l'Échec Anthropométrique (ICEA) </a:t>
            </a:r>
            <a:r>
              <a:rPr lang="fr-FR" dirty="0">
                <a:latin typeface="Times New Roman" panose="02020603050405020304" pitchFamily="18" charset="0"/>
                <a:cs typeface="Times New Roman" panose="02020603050405020304" pitchFamily="18" charset="0"/>
              </a:rPr>
              <a:t>. En combinant pour la première fois la rigueur de la modélisation statistique (GLM pondéré aux grappes DHS v001</a:t>
            </a:r>
            <a:r>
              <a:rPr lang="fr-FR" sz="2000" dirty="0">
                <a:latin typeface="Times New Roman" panose="02020603050405020304" pitchFamily="18" charset="0"/>
                <a:cs typeface="Times New Roman" panose="02020603050405020304" pitchFamily="18" charset="0"/>
              </a:rPr>
              <a:t>) et la puissance prédictive de l'intelligence artificielle </a:t>
            </a:r>
            <a:r>
              <a:rPr lang="fr-FR" sz="2000" b="1" dirty="0">
                <a:latin typeface="Times New Roman" panose="02020603050405020304" pitchFamily="18" charset="0"/>
                <a:cs typeface="Times New Roman" panose="02020603050405020304" pitchFamily="18" charset="0"/>
              </a:rPr>
              <a:t>(Machine Learning par </a:t>
            </a:r>
            <a:r>
              <a:rPr lang="fr-FR" sz="2000" b="1" dirty="0" err="1">
                <a:latin typeface="Times New Roman" panose="02020603050405020304" pitchFamily="18" charset="0"/>
                <a:cs typeface="Times New Roman" panose="02020603050405020304" pitchFamily="18" charset="0"/>
              </a:rPr>
              <a:t>CatBoost</a:t>
            </a:r>
            <a:r>
              <a:rPr lang="fr-FR" sz="2000" b="1" dirty="0">
                <a:latin typeface="Times New Roman" panose="02020603050405020304" pitchFamily="18" charset="0"/>
                <a:cs typeface="Times New Roman" panose="02020603050405020304" pitchFamily="18" charset="0"/>
              </a:rPr>
              <a:t> Classifier), </a:t>
            </a:r>
            <a:r>
              <a:rPr lang="fr-FR" sz="2000" dirty="0">
                <a:latin typeface="Times New Roman" panose="02020603050405020304" pitchFamily="18" charset="0"/>
                <a:cs typeface="Times New Roman" panose="02020603050405020304" pitchFamily="18" charset="0"/>
              </a:rPr>
              <a:t>notre objectif est d'identifier de manière exhaustive les facteurs de risque réels sur le territoire national. Ce protocole d'élite, validé par un test de résistance </a:t>
            </a:r>
            <a:r>
              <a:rPr lang="fr-FR" sz="2000" b="1" dirty="0">
                <a:latin typeface="Times New Roman" panose="02020603050405020304" pitchFamily="18" charset="0"/>
                <a:cs typeface="Times New Roman" panose="02020603050405020304" pitchFamily="18" charset="0"/>
              </a:rPr>
              <a:t>(</a:t>
            </a:r>
            <a:r>
              <a:rPr lang="fr-FR" b="1" i="1" dirty="0">
                <a:latin typeface="Times New Roman" panose="02020603050405020304" pitchFamily="18" charset="0"/>
                <a:cs typeface="Times New Roman" panose="02020603050405020304" pitchFamily="18" charset="0"/>
              </a:rPr>
              <a:t>Stress </a:t>
            </a:r>
            <a:r>
              <a:rPr lang="fr-FR" b="1" i="1" dirty="0" err="1">
                <a:latin typeface="Times New Roman" panose="02020603050405020304" pitchFamily="18" charset="0"/>
                <a:cs typeface="Times New Roman" panose="02020603050405020304" pitchFamily="18" charset="0"/>
              </a:rPr>
              <a:t>Testing</a:t>
            </a:r>
            <a:r>
              <a:rPr lang="fr-FR" sz="2000" b="1"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sur des communautés totalement inconnues, permet de fournir aux acteurs de la santé publique un outil d'aide à la décision fiable, stable et directement transposable sur le terrain.</a:t>
            </a:r>
          </a:p>
        </p:txBody>
      </p:sp>
      <p:pic>
        <p:nvPicPr>
          <p:cNvPr id="11" name="Image 10">
            <a:extLst>
              <a:ext uri="{FF2B5EF4-FFF2-40B4-BE49-F238E27FC236}">
                <a16:creationId xmlns:a16="http://schemas.microsoft.com/office/drawing/2014/main" id="{DCC5D6C5-AE92-7258-535F-BEFB7C0383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38364" y="6110189"/>
            <a:ext cx="2010206" cy="787854"/>
          </a:xfrm>
          <a:prstGeom prst="rect">
            <a:avLst/>
          </a:prstGeom>
        </p:spPr>
      </p:pic>
      <p:pic>
        <p:nvPicPr>
          <p:cNvPr id="14" name="Image 13">
            <a:extLst>
              <a:ext uri="{FF2B5EF4-FFF2-40B4-BE49-F238E27FC236}">
                <a16:creationId xmlns:a16="http://schemas.microsoft.com/office/drawing/2014/main" id="{E49FD2C3-EF46-9173-BE11-946B56D9AF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30445" y="1484501"/>
            <a:ext cx="1282036" cy="607650"/>
          </a:xfrm>
          <a:prstGeom prst="rect">
            <a:avLst/>
          </a:prstGeom>
        </p:spPr>
      </p:pic>
      <p:pic>
        <p:nvPicPr>
          <p:cNvPr id="5" name="Picture 4">
            <a:extLst>
              <a:ext uri="{FF2B5EF4-FFF2-40B4-BE49-F238E27FC236}">
                <a16:creationId xmlns:a16="http://schemas.microsoft.com/office/drawing/2014/main" id="{98931ABC-FFB0-8ECC-5B75-2FC67332A8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58200" y="1190846"/>
            <a:ext cx="3733800" cy="5662869"/>
          </a:xfrm>
          <a:prstGeom prst="rect">
            <a:avLst/>
          </a:prstGeom>
        </p:spPr>
      </p:pic>
    </p:spTree>
    <p:extLst>
      <p:ext uri="{BB962C8B-B14F-4D97-AF65-F5344CB8AC3E}">
        <p14:creationId xmlns:p14="http://schemas.microsoft.com/office/powerpoint/2010/main" val="861788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heel(1)">
                                      <p:cBhvr>
                                        <p:cTn id="1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23B01-E62B-0674-FD45-FB529FCAED97}"/>
            </a:ext>
          </a:extLst>
        </p:cNvPr>
        <p:cNvGrpSpPr/>
        <p:nvPr/>
      </p:nvGrpSpPr>
      <p:grpSpPr>
        <a:xfrm>
          <a:off x="0" y="0"/>
          <a:ext cx="0" cy="0"/>
          <a:chOff x="0" y="0"/>
          <a:chExt cx="0" cy="0"/>
        </a:xfrm>
      </p:grpSpPr>
      <p:sp>
        <p:nvSpPr>
          <p:cNvPr id="12" name="Flèche droite à entaille 11">
            <a:extLst>
              <a:ext uri="{FF2B5EF4-FFF2-40B4-BE49-F238E27FC236}">
                <a16:creationId xmlns:a16="http://schemas.microsoft.com/office/drawing/2014/main" id="{7C3E38E2-E353-4A18-A7ED-D0096C31AF9C}"/>
              </a:ext>
            </a:extLst>
          </p:cNvPr>
          <p:cNvSpPr/>
          <p:nvPr/>
        </p:nvSpPr>
        <p:spPr>
          <a:xfrm>
            <a:off x="-66466" y="0"/>
            <a:ext cx="2529414" cy="873760"/>
          </a:xfrm>
          <a:prstGeom prst="notchedRightArrow">
            <a:avLst/>
          </a:prstGeom>
          <a:solidFill>
            <a:srgbClr val="FF0000"/>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INTRODUCTION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7" name="Flèche droite à entaille 16">
            <a:extLst>
              <a:ext uri="{FF2B5EF4-FFF2-40B4-BE49-F238E27FC236}">
                <a16:creationId xmlns:a16="http://schemas.microsoft.com/office/drawing/2014/main" id="{86F04663-D757-F508-3F1A-50C69C6ED375}"/>
              </a:ext>
            </a:extLst>
          </p:cNvPr>
          <p:cNvSpPr/>
          <p:nvPr/>
        </p:nvSpPr>
        <p:spPr>
          <a:xfrm>
            <a:off x="4832563" y="-30480"/>
            <a:ext cx="2620428" cy="934720"/>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SOLUTION AU PROBLEME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8" name="Flèche droite à entaille 17">
            <a:extLst>
              <a:ext uri="{FF2B5EF4-FFF2-40B4-BE49-F238E27FC236}">
                <a16:creationId xmlns:a16="http://schemas.microsoft.com/office/drawing/2014/main" id="{09DC1EBB-BBBE-AE18-924B-A16C38548BF3}"/>
              </a:ext>
            </a:extLst>
          </p:cNvPr>
          <p:cNvSpPr/>
          <p:nvPr/>
        </p:nvSpPr>
        <p:spPr>
          <a:xfrm>
            <a:off x="7227356" y="-72209"/>
            <a:ext cx="2942804"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r>
              <a:rPr lang="en-US" b="1" dirty="0">
                <a:solidFill>
                  <a:schemeClr val="tx1"/>
                </a:solidFill>
                <a:latin typeface="Times New Roman" panose="02020603050405020304" pitchFamily="18" charset="0"/>
                <a:cs typeface="Times New Roman" panose="02020603050405020304" pitchFamily="18" charset="0"/>
              </a:rPr>
              <a:t>CONCEPTION ET REALISATION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9" name="Flèche droite à entaille 18">
            <a:extLst>
              <a:ext uri="{FF2B5EF4-FFF2-40B4-BE49-F238E27FC236}">
                <a16:creationId xmlns:a16="http://schemas.microsoft.com/office/drawing/2014/main" id="{0D1BB32B-AF4F-3CC3-9F7C-7B9EF6A1E130}"/>
              </a:ext>
            </a:extLst>
          </p:cNvPr>
          <p:cNvSpPr/>
          <p:nvPr/>
        </p:nvSpPr>
        <p:spPr>
          <a:xfrm>
            <a:off x="10002520" y="-103778"/>
            <a:ext cx="2291710"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CONCLUSION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0" name="Flèche droite à entaille 19">
            <a:extLst>
              <a:ext uri="{FF2B5EF4-FFF2-40B4-BE49-F238E27FC236}">
                <a16:creationId xmlns:a16="http://schemas.microsoft.com/office/drawing/2014/main" id="{B48E7AF2-737A-5E31-2D9C-57206A8B070E}"/>
              </a:ext>
            </a:extLst>
          </p:cNvPr>
          <p:cNvSpPr/>
          <p:nvPr/>
        </p:nvSpPr>
        <p:spPr>
          <a:xfrm>
            <a:off x="2273505" y="-72209"/>
            <a:ext cx="2738972" cy="101817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CONTEXTE ET PROBLEMATIQUE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 name="Émoticône 1">
            <a:extLst>
              <a:ext uri="{FF2B5EF4-FFF2-40B4-BE49-F238E27FC236}">
                <a16:creationId xmlns:a16="http://schemas.microsoft.com/office/drawing/2014/main" id="{12AF357F-8D7F-331B-5275-5720AA35E167}"/>
              </a:ext>
            </a:extLst>
          </p:cNvPr>
          <p:cNvSpPr/>
          <p:nvPr/>
        </p:nvSpPr>
        <p:spPr>
          <a:xfrm>
            <a:off x="2303149" y="3987802"/>
            <a:ext cx="2529414" cy="2236763"/>
          </a:xfrm>
          <a:prstGeom prst="smileyFac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 name="Phylactère : pensées 3">
            <a:extLst>
              <a:ext uri="{FF2B5EF4-FFF2-40B4-BE49-F238E27FC236}">
                <a16:creationId xmlns:a16="http://schemas.microsoft.com/office/drawing/2014/main" id="{73C02743-A034-4FA7-0AF0-623D0F341DA9}"/>
              </a:ext>
            </a:extLst>
          </p:cNvPr>
          <p:cNvSpPr/>
          <p:nvPr/>
        </p:nvSpPr>
        <p:spPr>
          <a:xfrm>
            <a:off x="4296508" y="1480235"/>
            <a:ext cx="5592344" cy="2830507"/>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latin typeface="Times New Roman" panose="02020603050405020304" pitchFamily="18" charset="0"/>
                <a:cs typeface="Times New Roman" panose="02020603050405020304" pitchFamily="18" charset="0"/>
              </a:rPr>
              <a:t>Comment </a:t>
            </a:r>
            <a:r>
              <a:rPr lang="en-US" sz="2000" dirty="0" err="1">
                <a:solidFill>
                  <a:schemeClr val="tx1"/>
                </a:solidFill>
                <a:latin typeface="Times New Roman" panose="02020603050405020304" pitchFamily="18" charset="0"/>
                <a:cs typeface="Times New Roman" panose="02020603050405020304" pitchFamily="18" charset="0"/>
              </a:rPr>
              <a:t>modeliser</a:t>
            </a:r>
            <a:r>
              <a:rPr lang="en-US" sz="2000" dirty="0">
                <a:solidFill>
                  <a:schemeClr val="tx1"/>
                </a:solidFill>
                <a:latin typeface="Times New Roman" panose="02020603050405020304" pitchFamily="18" charset="0"/>
                <a:cs typeface="Times New Roman" panose="02020603050405020304" pitchFamily="18" charset="0"/>
              </a:rPr>
              <a:t> et </a:t>
            </a:r>
            <a:r>
              <a:rPr lang="en-US" sz="2000" dirty="0" err="1">
                <a:solidFill>
                  <a:schemeClr val="tx1"/>
                </a:solidFill>
                <a:latin typeface="Times New Roman" panose="02020603050405020304" pitchFamily="18" charset="0"/>
                <a:cs typeface="Times New Roman" panose="02020603050405020304" pitchFamily="18" charset="0"/>
              </a:rPr>
              <a:t>construire</a:t>
            </a:r>
            <a:r>
              <a:rPr lang="en-US" sz="2000" dirty="0">
                <a:solidFill>
                  <a:schemeClr val="tx1"/>
                </a:solidFill>
                <a:latin typeface="Times New Roman" panose="02020603050405020304" pitchFamily="18" charset="0"/>
                <a:cs typeface="Times New Roman" panose="02020603050405020304" pitchFamily="18" charset="0"/>
              </a:rPr>
              <a:t> un </a:t>
            </a:r>
            <a:r>
              <a:rPr lang="en-US" sz="2000" dirty="0" err="1">
                <a:solidFill>
                  <a:schemeClr val="tx1"/>
                </a:solidFill>
                <a:latin typeface="Times New Roman" panose="02020603050405020304" pitchFamily="18" charset="0"/>
                <a:cs typeface="Times New Roman" panose="02020603050405020304" pitchFamily="18" charset="0"/>
              </a:rPr>
              <a:t>modele</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statistique</a:t>
            </a:r>
            <a:r>
              <a:rPr lang="en-US" sz="2000" dirty="0">
                <a:solidFill>
                  <a:schemeClr val="tx1"/>
                </a:solidFill>
                <a:latin typeface="Times New Roman" panose="02020603050405020304" pitchFamily="18" charset="0"/>
                <a:cs typeface="Times New Roman" panose="02020603050405020304" pitchFamily="18" charset="0"/>
              </a:rPr>
              <a:t> de detection </a:t>
            </a:r>
            <a:r>
              <a:rPr lang="en-US" sz="2000" dirty="0" err="1">
                <a:solidFill>
                  <a:schemeClr val="tx1"/>
                </a:solidFill>
                <a:latin typeface="Times New Roman" panose="02020603050405020304" pitchFamily="18" charset="0"/>
                <a:cs typeface="Times New Roman" panose="02020603050405020304" pitchFamily="18" charset="0"/>
              </a:rPr>
              <a:t>precoce</a:t>
            </a:r>
            <a:r>
              <a:rPr lang="en-US" sz="2000" dirty="0">
                <a:solidFill>
                  <a:schemeClr val="tx1"/>
                </a:solidFill>
                <a:latin typeface="Times New Roman" panose="02020603050405020304" pitchFamily="18" charset="0"/>
                <a:cs typeface="Times New Roman" panose="02020603050405020304" pitchFamily="18" charset="0"/>
              </a:rPr>
              <a:t> des </a:t>
            </a:r>
            <a:r>
              <a:rPr lang="en-US" sz="2000" dirty="0" err="1">
                <a:solidFill>
                  <a:schemeClr val="tx1"/>
                </a:solidFill>
                <a:latin typeface="Times New Roman" panose="02020603050405020304" pitchFamily="18" charset="0"/>
                <a:cs typeface="Times New Roman" panose="02020603050405020304" pitchFamily="18" charset="0"/>
              </a:rPr>
              <a:t>cas</a:t>
            </a:r>
            <a:r>
              <a:rPr lang="en-US" sz="2000" dirty="0">
                <a:solidFill>
                  <a:schemeClr val="tx1"/>
                </a:solidFill>
                <a:latin typeface="Times New Roman" panose="02020603050405020304" pitchFamily="18" charset="0"/>
                <a:cs typeface="Times New Roman" panose="02020603050405020304" pitchFamily="18" charset="0"/>
              </a:rPr>
              <a:t> de sous-nutrition infantile au Cameroun avec </a:t>
            </a:r>
            <a:r>
              <a:rPr lang="en-US" sz="2000" dirty="0" err="1">
                <a:solidFill>
                  <a:schemeClr val="tx1"/>
                </a:solidFill>
                <a:latin typeface="Times New Roman" panose="02020603050405020304" pitchFamily="18" charset="0"/>
                <a:cs typeface="Times New Roman" panose="02020603050405020304" pitchFamily="18" charset="0"/>
              </a:rPr>
              <a:t>appui</a:t>
            </a:r>
            <a:r>
              <a:rPr lang="en-US" sz="2000" dirty="0">
                <a:solidFill>
                  <a:schemeClr val="tx1"/>
                </a:solidFill>
                <a:latin typeface="Times New Roman" panose="02020603050405020304" pitchFamily="18" charset="0"/>
                <a:cs typeface="Times New Roman" panose="02020603050405020304" pitchFamily="18" charset="0"/>
              </a:rPr>
              <a:t> du Machine Learning?</a:t>
            </a:r>
            <a:endParaRPr lang="fr-FR" sz="2000" dirty="0">
              <a:solidFill>
                <a:schemeClr val="tx1"/>
              </a:solidFill>
              <a:latin typeface="Times New Roman" panose="02020603050405020304" pitchFamily="18" charset="0"/>
              <a:cs typeface="Times New Roman" panose="02020603050405020304" pitchFamily="18" charset="0"/>
            </a:endParaRPr>
          </a:p>
        </p:txBody>
      </p:sp>
      <p:sp>
        <p:nvSpPr>
          <p:cNvPr id="7" name="Titre 1">
            <a:extLst>
              <a:ext uri="{FF2B5EF4-FFF2-40B4-BE49-F238E27FC236}">
                <a16:creationId xmlns:a16="http://schemas.microsoft.com/office/drawing/2014/main" id="{F7BC266C-9088-7FBF-0C10-9FA603D24F54}"/>
              </a:ext>
            </a:extLst>
          </p:cNvPr>
          <p:cNvSpPr txBox="1">
            <a:spLocks/>
          </p:cNvSpPr>
          <p:nvPr/>
        </p:nvSpPr>
        <p:spPr>
          <a:xfrm>
            <a:off x="376719" y="1722479"/>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latin typeface="Times New Roman" panose="02020603050405020304" pitchFamily="18" charset="0"/>
                <a:cs typeface="Times New Roman" panose="02020603050405020304" pitchFamily="18" charset="0"/>
              </a:rPr>
              <a:t>Problematique</a:t>
            </a:r>
            <a:endParaRPr lang="fr-FR" b="1" dirty="0">
              <a:solidFill>
                <a:schemeClr val="tx1"/>
              </a:solidFill>
              <a:latin typeface="Times New Roman" panose="02020603050405020304" pitchFamily="18" charset="0"/>
              <a:cs typeface="Times New Roman" panose="02020603050405020304" pitchFamily="18" charset="0"/>
            </a:endParaRPr>
          </a:p>
        </p:txBody>
      </p:sp>
      <p:pic>
        <p:nvPicPr>
          <p:cNvPr id="3" name="Image 10">
            <a:extLst>
              <a:ext uri="{FF2B5EF4-FFF2-40B4-BE49-F238E27FC236}">
                <a16:creationId xmlns:a16="http://schemas.microsoft.com/office/drawing/2014/main" id="{3BA5633E-53CC-B0CF-E17A-CFB3F3D95D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38364" y="6110189"/>
            <a:ext cx="2010206" cy="787854"/>
          </a:xfrm>
          <a:prstGeom prst="rect">
            <a:avLst/>
          </a:prstGeom>
        </p:spPr>
      </p:pic>
    </p:spTree>
    <p:extLst>
      <p:ext uri="{BB962C8B-B14F-4D97-AF65-F5344CB8AC3E}">
        <p14:creationId xmlns:p14="http://schemas.microsoft.com/office/powerpoint/2010/main" val="114886839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40170-9520-17B2-74B4-65632C194FF8}"/>
            </a:ext>
          </a:extLst>
        </p:cNvPr>
        <p:cNvGrpSpPr/>
        <p:nvPr/>
      </p:nvGrpSpPr>
      <p:grpSpPr>
        <a:xfrm>
          <a:off x="0" y="0"/>
          <a:ext cx="0" cy="0"/>
          <a:chOff x="0" y="0"/>
          <a:chExt cx="0" cy="0"/>
        </a:xfrm>
      </p:grpSpPr>
      <p:sp>
        <p:nvSpPr>
          <p:cNvPr id="12" name="Flèche droite à entaille 11">
            <a:extLst>
              <a:ext uri="{FF2B5EF4-FFF2-40B4-BE49-F238E27FC236}">
                <a16:creationId xmlns:a16="http://schemas.microsoft.com/office/drawing/2014/main" id="{C6D63824-A162-19F9-DB3E-7C8835B97669}"/>
              </a:ext>
            </a:extLst>
          </p:cNvPr>
          <p:cNvSpPr/>
          <p:nvPr/>
        </p:nvSpPr>
        <p:spPr>
          <a:xfrm>
            <a:off x="-66466" y="0"/>
            <a:ext cx="2529414" cy="873760"/>
          </a:xfrm>
          <a:prstGeom prst="notchedRightArrow">
            <a:avLst/>
          </a:prstGeom>
          <a:solidFill>
            <a:srgbClr val="FF0000"/>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INTRODUCTION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7" name="Flèche droite à entaille 16">
            <a:extLst>
              <a:ext uri="{FF2B5EF4-FFF2-40B4-BE49-F238E27FC236}">
                <a16:creationId xmlns:a16="http://schemas.microsoft.com/office/drawing/2014/main" id="{0C6CEABD-4E39-6C57-BA43-BE3B46BD3104}"/>
              </a:ext>
            </a:extLst>
          </p:cNvPr>
          <p:cNvSpPr/>
          <p:nvPr/>
        </p:nvSpPr>
        <p:spPr>
          <a:xfrm>
            <a:off x="4832563" y="-30480"/>
            <a:ext cx="2620428" cy="934720"/>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SOLUTION AU PROBLEME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8" name="Flèche droite à entaille 17">
            <a:extLst>
              <a:ext uri="{FF2B5EF4-FFF2-40B4-BE49-F238E27FC236}">
                <a16:creationId xmlns:a16="http://schemas.microsoft.com/office/drawing/2014/main" id="{39648BFD-E741-5450-FC66-9C1D983DEAEF}"/>
              </a:ext>
            </a:extLst>
          </p:cNvPr>
          <p:cNvSpPr/>
          <p:nvPr/>
        </p:nvSpPr>
        <p:spPr>
          <a:xfrm>
            <a:off x="7227356" y="-72209"/>
            <a:ext cx="2942804"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r>
              <a:rPr lang="en-US" b="1" dirty="0">
                <a:solidFill>
                  <a:schemeClr val="tx1"/>
                </a:solidFill>
                <a:latin typeface="Times New Roman" panose="02020603050405020304" pitchFamily="18" charset="0"/>
                <a:cs typeface="Times New Roman" panose="02020603050405020304" pitchFamily="18" charset="0"/>
              </a:rPr>
              <a:t>CONCEPTION ET REALISATION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9" name="Flèche droite à entaille 18">
            <a:extLst>
              <a:ext uri="{FF2B5EF4-FFF2-40B4-BE49-F238E27FC236}">
                <a16:creationId xmlns:a16="http://schemas.microsoft.com/office/drawing/2014/main" id="{40C2A513-2D65-23CA-8726-766B0153A505}"/>
              </a:ext>
            </a:extLst>
          </p:cNvPr>
          <p:cNvSpPr/>
          <p:nvPr/>
        </p:nvSpPr>
        <p:spPr>
          <a:xfrm>
            <a:off x="10002520" y="-103778"/>
            <a:ext cx="2291710"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CONCLUSION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0" name="Flèche droite à entaille 19">
            <a:extLst>
              <a:ext uri="{FF2B5EF4-FFF2-40B4-BE49-F238E27FC236}">
                <a16:creationId xmlns:a16="http://schemas.microsoft.com/office/drawing/2014/main" id="{3D7533DC-8F84-EB40-F3B9-7612BBD413E5}"/>
              </a:ext>
            </a:extLst>
          </p:cNvPr>
          <p:cNvSpPr/>
          <p:nvPr/>
        </p:nvSpPr>
        <p:spPr>
          <a:xfrm>
            <a:off x="2273505" y="-72209"/>
            <a:ext cx="2738972" cy="101817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CONTEXTE ET PROBLEMATIQUE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 name="Titre 1">
            <a:extLst>
              <a:ext uri="{FF2B5EF4-FFF2-40B4-BE49-F238E27FC236}">
                <a16:creationId xmlns:a16="http://schemas.microsoft.com/office/drawing/2014/main" id="{9A26EE26-BED0-9E83-9F42-BE6D589A0494}"/>
              </a:ext>
            </a:extLst>
          </p:cNvPr>
          <p:cNvSpPr txBox="1">
            <a:spLocks/>
          </p:cNvSpPr>
          <p:nvPr/>
        </p:nvSpPr>
        <p:spPr>
          <a:xfrm>
            <a:off x="289633" y="1592391"/>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b="1" dirty="0">
                <a:solidFill>
                  <a:schemeClr val="tx1"/>
                </a:solidFill>
                <a:latin typeface="Times New Roman" panose="02020603050405020304" pitchFamily="18" charset="0"/>
                <a:cs typeface="Times New Roman" panose="02020603050405020304" pitchFamily="18" charset="0"/>
              </a:rPr>
              <a:t>Solution a la </a:t>
            </a:r>
            <a:r>
              <a:rPr lang="fr-FR" b="1" dirty="0" err="1">
                <a:solidFill>
                  <a:schemeClr val="tx1"/>
                </a:solidFill>
                <a:latin typeface="Times New Roman" panose="02020603050405020304" pitchFamily="18" charset="0"/>
                <a:cs typeface="Times New Roman" panose="02020603050405020304" pitchFamily="18" charset="0"/>
              </a:rPr>
              <a:t>problematique</a:t>
            </a:r>
            <a:endParaRPr lang="fr-FR" b="1" dirty="0">
              <a:solidFill>
                <a:schemeClr val="tx1"/>
              </a:solidFill>
              <a:latin typeface="Times New Roman" panose="02020603050405020304" pitchFamily="18" charset="0"/>
              <a:cs typeface="Times New Roman" panose="02020603050405020304" pitchFamily="18" charset="0"/>
            </a:endParaRPr>
          </a:p>
        </p:txBody>
      </p:sp>
      <p:sp>
        <p:nvSpPr>
          <p:cNvPr id="6" name="Espace réservé du contenu 2">
            <a:extLst>
              <a:ext uri="{FF2B5EF4-FFF2-40B4-BE49-F238E27FC236}">
                <a16:creationId xmlns:a16="http://schemas.microsoft.com/office/drawing/2014/main" id="{8574AFB0-E9B9-34BF-DA8A-B2A4634E7B05}"/>
              </a:ext>
            </a:extLst>
          </p:cNvPr>
          <p:cNvSpPr txBox="1">
            <a:spLocks/>
          </p:cNvSpPr>
          <p:nvPr/>
        </p:nvSpPr>
        <p:spPr>
          <a:xfrm>
            <a:off x="285920" y="2440114"/>
            <a:ext cx="8915400"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fr-FR" sz="2000" dirty="0">
                <a:latin typeface="Times New Roman" panose="02020603050405020304" pitchFamily="18" charset="0"/>
                <a:cs typeface="Times New Roman" panose="02020603050405020304" pitchFamily="18" charset="0"/>
              </a:rPr>
              <a:t>La solution développée dans ce projet repose sur la création d'un écosystème numérique intelligent et unifié, brisant le cloisonnement des approches traditionnelles. Sur le plan conceptuel, nous intégrons les trois formes de sous-nutrition de l'OMS en un indicateur unique, l'Indice Composite de l'Échec Anthropométrique (ICEA), harmonisé par l'Analyse des Correspondances Multiples (ACM) de </a:t>
            </a:r>
            <a:r>
              <a:rPr lang="fr-FR" sz="2000" dirty="0" err="1">
                <a:latin typeface="Times New Roman" panose="02020603050405020304" pitchFamily="18" charset="0"/>
                <a:cs typeface="Times New Roman" panose="02020603050405020304" pitchFamily="18" charset="0"/>
              </a:rPr>
              <a:t>Benzécri</a:t>
            </a:r>
            <a:r>
              <a:rPr lang="fr-FR" sz="2000" dirty="0">
                <a:latin typeface="Times New Roman" panose="02020603050405020304" pitchFamily="18" charset="0"/>
                <a:cs typeface="Times New Roman" panose="02020603050405020304" pitchFamily="18" charset="0"/>
              </a:rPr>
              <a:t>. Sur le plan algorithmique, nous déployons une double architecture : un modèle statistique (GLM pondéré) validé par le </a:t>
            </a:r>
            <a:r>
              <a:rPr lang="fr-FR" sz="2000" dirty="0" err="1">
                <a:latin typeface="Times New Roman" panose="02020603050405020304" pitchFamily="18" charset="0"/>
                <a:cs typeface="Times New Roman" panose="02020603050405020304" pitchFamily="18" charset="0"/>
              </a:rPr>
              <a:t>Linktest</a:t>
            </a:r>
            <a:r>
              <a:rPr lang="fr-FR" sz="2000" dirty="0">
                <a:latin typeface="Times New Roman" panose="02020603050405020304" pitchFamily="18" charset="0"/>
                <a:cs typeface="Times New Roman" panose="02020603050405020304" pitchFamily="18" charset="0"/>
              </a:rPr>
              <a:t> de </a:t>
            </a:r>
            <a:r>
              <a:rPr lang="fr-FR" sz="2000" dirty="0" err="1">
                <a:latin typeface="Times New Roman" panose="02020603050405020304" pitchFamily="18" charset="0"/>
                <a:cs typeface="Times New Roman" panose="02020603050405020304" pitchFamily="18" charset="0"/>
              </a:rPr>
              <a:t>Pregibon</a:t>
            </a:r>
            <a:r>
              <a:rPr lang="fr-FR" sz="2000" dirty="0">
                <a:latin typeface="Times New Roman" panose="02020603050405020304" pitchFamily="18" charset="0"/>
                <a:cs typeface="Times New Roman" panose="02020603050405020304" pitchFamily="18" charset="0"/>
              </a:rPr>
              <a:t> pour isoler les facteurs de risque nationaux (WASH, éducation, richesse), et un moteur de Machine Learning (</a:t>
            </a:r>
            <a:r>
              <a:rPr lang="fr-FR" sz="2000" dirty="0" err="1">
                <a:latin typeface="Times New Roman" panose="02020603050405020304" pitchFamily="18" charset="0"/>
                <a:cs typeface="Times New Roman" panose="02020603050405020304" pitchFamily="18" charset="0"/>
              </a:rPr>
              <a:t>CatBoost</a:t>
            </a:r>
            <a:r>
              <a:rPr lang="fr-FR" sz="2000" dirty="0">
                <a:latin typeface="Times New Roman" panose="02020603050405020304" pitchFamily="18" charset="0"/>
                <a:cs typeface="Times New Roman" panose="02020603050405020304" pitchFamily="18" charset="0"/>
              </a:rPr>
              <a:t> Classifier) hautement régularisé par validation croisée par grappes v001. Testée avec succès face au surapprentissage spatial via un </a:t>
            </a:r>
            <a:r>
              <a:rPr lang="fr-FR" sz="2000" i="1" dirty="0">
                <a:latin typeface="Times New Roman" panose="02020603050405020304" pitchFamily="18" charset="0"/>
                <a:cs typeface="Times New Roman" panose="02020603050405020304" pitchFamily="18" charset="0"/>
              </a:rPr>
              <a:t>Stress </a:t>
            </a:r>
            <a:r>
              <a:rPr lang="fr-FR" sz="2000" i="1" dirty="0" err="1">
                <a:latin typeface="Times New Roman" panose="02020603050405020304" pitchFamily="18" charset="0"/>
                <a:cs typeface="Times New Roman" panose="02020603050405020304" pitchFamily="18" charset="0"/>
              </a:rPr>
              <a:t>Testing</a:t>
            </a:r>
            <a:r>
              <a:rPr lang="fr-FR" sz="2000" dirty="0">
                <a:latin typeface="Times New Roman" panose="02020603050405020304" pitchFamily="18" charset="0"/>
                <a:cs typeface="Times New Roman" panose="02020603050405020304" pitchFamily="18" charset="0"/>
              </a:rPr>
              <a:t> rigoureux sur des communautés inconnues, cette solution se matérialise par une API prédictive </a:t>
            </a:r>
            <a:r>
              <a:rPr lang="fr-FR" sz="2000" dirty="0" err="1">
                <a:latin typeface="Times New Roman" panose="02020603050405020304" pitchFamily="18" charset="0"/>
                <a:cs typeface="Times New Roman" panose="02020603050405020304" pitchFamily="18" charset="0"/>
              </a:rPr>
              <a:t>FastAPI</a:t>
            </a:r>
            <a:r>
              <a:rPr lang="fr-FR" sz="2000" dirty="0">
                <a:latin typeface="Times New Roman" panose="02020603050405020304" pitchFamily="18" charset="0"/>
                <a:cs typeface="Times New Roman" panose="02020603050405020304" pitchFamily="18" charset="0"/>
              </a:rPr>
              <a:t> et une interface web </a:t>
            </a:r>
            <a:r>
              <a:rPr lang="fr-FR" sz="2000" dirty="0" err="1">
                <a:latin typeface="Times New Roman" panose="02020603050405020304" pitchFamily="18" charset="0"/>
                <a:cs typeface="Times New Roman" panose="02020603050405020304" pitchFamily="18" charset="0"/>
              </a:rPr>
              <a:t>Streamlit</a:t>
            </a:r>
            <a:r>
              <a:rPr lang="fr-FR" sz="2000" dirty="0">
                <a:latin typeface="Times New Roman" panose="02020603050405020304" pitchFamily="18" charset="0"/>
                <a:cs typeface="Times New Roman" panose="02020603050405020304" pitchFamily="18" charset="0"/>
              </a:rPr>
              <a:t>.</a:t>
            </a:r>
          </a:p>
        </p:txBody>
      </p:sp>
      <p:pic>
        <p:nvPicPr>
          <p:cNvPr id="3" name="Image 10">
            <a:extLst>
              <a:ext uri="{FF2B5EF4-FFF2-40B4-BE49-F238E27FC236}">
                <a16:creationId xmlns:a16="http://schemas.microsoft.com/office/drawing/2014/main" id="{ABEE7601-7BCE-4107-86B8-477862EC6E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40900" y="1385113"/>
            <a:ext cx="2162961" cy="847723"/>
          </a:xfrm>
          <a:prstGeom prst="rect">
            <a:avLst/>
          </a:prstGeom>
        </p:spPr>
      </p:pic>
    </p:spTree>
    <p:extLst>
      <p:ext uri="{BB962C8B-B14F-4D97-AF65-F5344CB8AC3E}">
        <p14:creationId xmlns:p14="http://schemas.microsoft.com/office/powerpoint/2010/main" val="2095754303"/>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lèche droite à entaille 11"/>
          <p:cNvSpPr/>
          <p:nvPr/>
        </p:nvSpPr>
        <p:spPr>
          <a:xfrm>
            <a:off x="-66466" y="0"/>
            <a:ext cx="2529414" cy="87376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INTRODUCTION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7" name="Flèche droite à entaille 16"/>
          <p:cNvSpPr/>
          <p:nvPr/>
        </p:nvSpPr>
        <p:spPr>
          <a:xfrm>
            <a:off x="4832563" y="-30480"/>
            <a:ext cx="2620428" cy="93472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SOLUTION AU PROBLEME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8" name="Flèche droite à entaille 17"/>
          <p:cNvSpPr/>
          <p:nvPr/>
        </p:nvSpPr>
        <p:spPr>
          <a:xfrm>
            <a:off x="7227356" y="-82369"/>
            <a:ext cx="2942804" cy="1008018"/>
          </a:xfrm>
          <a:prstGeom prst="notchedRightArrow">
            <a:avLst/>
          </a:prstGeom>
          <a:solidFill>
            <a:srgbClr val="FF0000"/>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CONCEPTION ET REALISATION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9" name="Flèche droite à entaille 18"/>
          <p:cNvSpPr/>
          <p:nvPr/>
        </p:nvSpPr>
        <p:spPr>
          <a:xfrm>
            <a:off x="10002520" y="-103778"/>
            <a:ext cx="2291710"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CONCLUSION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0" name="Flèche droite à entaille 19"/>
          <p:cNvSpPr/>
          <p:nvPr/>
        </p:nvSpPr>
        <p:spPr>
          <a:xfrm>
            <a:off x="2283034" y="-72209"/>
            <a:ext cx="2738972" cy="1018178"/>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CONTEXTE ET PROBLEMATIQUE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 name="Titre 1">
            <a:extLst>
              <a:ext uri="{FF2B5EF4-FFF2-40B4-BE49-F238E27FC236}">
                <a16:creationId xmlns:a16="http://schemas.microsoft.com/office/drawing/2014/main" id="{C7C8F0A3-FFB9-8C22-D303-A882781CB8DF}"/>
              </a:ext>
            </a:extLst>
          </p:cNvPr>
          <p:cNvSpPr txBox="1">
            <a:spLocks/>
          </p:cNvSpPr>
          <p:nvPr/>
        </p:nvSpPr>
        <p:spPr>
          <a:xfrm>
            <a:off x="118155" y="1570615"/>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b="1" dirty="0">
                <a:solidFill>
                  <a:schemeClr val="tx1"/>
                </a:solidFill>
                <a:latin typeface="Times New Roman" panose="02020603050405020304" pitchFamily="18" charset="0"/>
                <a:cs typeface="Times New Roman" panose="02020603050405020304" pitchFamily="18" charset="0"/>
              </a:rPr>
              <a:t>Outils statistiques, ML  et utilitaires utilises</a:t>
            </a:r>
          </a:p>
        </p:txBody>
      </p:sp>
      <p:pic>
        <p:nvPicPr>
          <p:cNvPr id="8" name="Graphique 7">
            <a:extLst>
              <a:ext uri="{FF2B5EF4-FFF2-40B4-BE49-F238E27FC236}">
                <a16:creationId xmlns:a16="http://schemas.microsoft.com/office/drawing/2014/main" id="{F0A2E571-E568-D9EF-7D15-4007138B77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5139" y="5874021"/>
            <a:ext cx="3429000" cy="559436"/>
          </a:xfrm>
          <a:prstGeom prst="rect">
            <a:avLst/>
          </a:prstGeom>
        </p:spPr>
      </p:pic>
      <p:pic>
        <p:nvPicPr>
          <p:cNvPr id="10" name="Image 9">
            <a:extLst>
              <a:ext uri="{FF2B5EF4-FFF2-40B4-BE49-F238E27FC236}">
                <a16:creationId xmlns:a16="http://schemas.microsoft.com/office/drawing/2014/main" id="{31FDE5E6-D853-95F3-8EE0-8ACC01DDADD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52984" y="2617284"/>
            <a:ext cx="1121229" cy="1121229"/>
          </a:xfrm>
          <a:prstGeom prst="rect">
            <a:avLst/>
          </a:prstGeom>
        </p:spPr>
      </p:pic>
      <p:pic>
        <p:nvPicPr>
          <p:cNvPr id="15" name="Graphique 14">
            <a:extLst>
              <a:ext uri="{FF2B5EF4-FFF2-40B4-BE49-F238E27FC236}">
                <a16:creationId xmlns:a16="http://schemas.microsoft.com/office/drawing/2014/main" id="{193E1A0B-DC89-482A-7DB7-15F0C69415E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96453" y="2561202"/>
            <a:ext cx="2181950" cy="1177311"/>
          </a:xfrm>
          <a:prstGeom prst="rect">
            <a:avLst/>
          </a:prstGeom>
        </p:spPr>
      </p:pic>
      <p:pic>
        <p:nvPicPr>
          <p:cNvPr id="25" name="Image 24">
            <a:extLst>
              <a:ext uri="{FF2B5EF4-FFF2-40B4-BE49-F238E27FC236}">
                <a16:creationId xmlns:a16="http://schemas.microsoft.com/office/drawing/2014/main" id="{E65D49DE-9A1F-FEDF-6FB9-AC1B196DC6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9751" y="2721456"/>
            <a:ext cx="3773766" cy="1067065"/>
          </a:xfrm>
          <a:prstGeom prst="rect">
            <a:avLst/>
          </a:prstGeom>
        </p:spPr>
      </p:pic>
      <p:pic>
        <p:nvPicPr>
          <p:cNvPr id="29" name="Image 28">
            <a:extLst>
              <a:ext uri="{FF2B5EF4-FFF2-40B4-BE49-F238E27FC236}">
                <a16:creationId xmlns:a16="http://schemas.microsoft.com/office/drawing/2014/main" id="{DD5EFC3A-304F-D508-8598-AF2A1E4E2EF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115914" y="2478599"/>
            <a:ext cx="1396716" cy="1396716"/>
          </a:xfrm>
          <a:prstGeom prst="rect">
            <a:avLst/>
          </a:prstGeom>
        </p:spPr>
      </p:pic>
      <p:pic>
        <p:nvPicPr>
          <p:cNvPr id="31" name="Image 30">
            <a:extLst>
              <a:ext uri="{FF2B5EF4-FFF2-40B4-BE49-F238E27FC236}">
                <a16:creationId xmlns:a16="http://schemas.microsoft.com/office/drawing/2014/main" id="{1F610648-9936-8556-60B8-54E96A2B4DB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17779" y="3913098"/>
            <a:ext cx="1960923" cy="1960923"/>
          </a:xfrm>
          <a:prstGeom prst="rect">
            <a:avLst/>
          </a:prstGeom>
        </p:spPr>
      </p:pic>
      <p:pic>
        <p:nvPicPr>
          <p:cNvPr id="33" name="Image 32">
            <a:extLst>
              <a:ext uri="{FF2B5EF4-FFF2-40B4-BE49-F238E27FC236}">
                <a16:creationId xmlns:a16="http://schemas.microsoft.com/office/drawing/2014/main" id="{F0520E12-FBDF-8468-8E79-85B80F62EB2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393629" y="2561202"/>
            <a:ext cx="1282952" cy="1282952"/>
          </a:xfrm>
          <a:prstGeom prst="rect">
            <a:avLst/>
          </a:prstGeom>
        </p:spPr>
      </p:pic>
      <p:pic>
        <p:nvPicPr>
          <p:cNvPr id="35" name="Image 34">
            <a:extLst>
              <a:ext uri="{FF2B5EF4-FFF2-40B4-BE49-F238E27FC236}">
                <a16:creationId xmlns:a16="http://schemas.microsoft.com/office/drawing/2014/main" id="{B615FB7A-EF51-C5CB-077F-BB50E7B777B0}"/>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2082138" y="4381152"/>
            <a:ext cx="1821894" cy="1024814"/>
          </a:xfrm>
          <a:prstGeom prst="rect">
            <a:avLst/>
          </a:prstGeom>
        </p:spPr>
      </p:pic>
      <p:pic>
        <p:nvPicPr>
          <p:cNvPr id="37" name="Image 36">
            <a:extLst>
              <a:ext uri="{FF2B5EF4-FFF2-40B4-BE49-F238E27FC236}">
                <a16:creationId xmlns:a16="http://schemas.microsoft.com/office/drawing/2014/main" id="{7B715406-087B-9237-92EA-2887BD544F6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172110" y="5994232"/>
            <a:ext cx="2797186" cy="559437"/>
          </a:xfrm>
          <a:prstGeom prst="rect">
            <a:avLst/>
          </a:prstGeom>
        </p:spPr>
      </p:pic>
      <p:pic>
        <p:nvPicPr>
          <p:cNvPr id="39" name="Graphique 38">
            <a:extLst>
              <a:ext uri="{FF2B5EF4-FFF2-40B4-BE49-F238E27FC236}">
                <a16:creationId xmlns:a16="http://schemas.microsoft.com/office/drawing/2014/main" id="{1639C858-AB73-724B-42F3-59CA7190281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69296" y="5007681"/>
            <a:ext cx="1438418" cy="1731556"/>
          </a:xfrm>
          <a:prstGeom prst="rect">
            <a:avLst/>
          </a:prstGeom>
        </p:spPr>
      </p:pic>
      <p:pic>
        <p:nvPicPr>
          <p:cNvPr id="41" name="Image 40">
            <a:extLst>
              <a:ext uri="{FF2B5EF4-FFF2-40B4-BE49-F238E27FC236}">
                <a16:creationId xmlns:a16="http://schemas.microsoft.com/office/drawing/2014/main" id="{E4A83D1B-63E3-495D-175D-7C6C9453E42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904032" y="4219721"/>
            <a:ext cx="1339934" cy="1246766"/>
          </a:xfrm>
          <a:prstGeom prst="rect">
            <a:avLst/>
          </a:prstGeom>
        </p:spPr>
      </p:pic>
      <p:pic>
        <p:nvPicPr>
          <p:cNvPr id="43" name="Image 42">
            <a:extLst>
              <a:ext uri="{FF2B5EF4-FFF2-40B4-BE49-F238E27FC236}">
                <a16:creationId xmlns:a16="http://schemas.microsoft.com/office/drawing/2014/main" id="{02D1FC06-78A3-8D04-2F28-EC5A88544FC7}"/>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636016" y="4120673"/>
            <a:ext cx="1333280" cy="1545772"/>
          </a:xfrm>
          <a:prstGeom prst="rect">
            <a:avLst/>
          </a:prstGeom>
        </p:spPr>
      </p:pic>
      <p:pic>
        <p:nvPicPr>
          <p:cNvPr id="45" name="Image 44">
            <a:extLst>
              <a:ext uri="{FF2B5EF4-FFF2-40B4-BE49-F238E27FC236}">
                <a16:creationId xmlns:a16="http://schemas.microsoft.com/office/drawing/2014/main" id="{4A53D05A-F621-3690-A4F4-FD231A21E83F}"/>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744006" y="3837159"/>
            <a:ext cx="1268646" cy="1268646"/>
          </a:xfrm>
          <a:prstGeom prst="rect">
            <a:avLst/>
          </a:prstGeom>
        </p:spPr>
      </p:pic>
      <p:pic>
        <p:nvPicPr>
          <p:cNvPr id="3" name="Image 10">
            <a:extLst>
              <a:ext uri="{FF2B5EF4-FFF2-40B4-BE49-F238E27FC236}">
                <a16:creationId xmlns:a16="http://schemas.microsoft.com/office/drawing/2014/main" id="{15D9E3F8-670A-EA0A-DC40-E94CCEA2E9DA}"/>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744006" y="1000230"/>
            <a:ext cx="2010206" cy="787854"/>
          </a:xfrm>
          <a:prstGeom prst="rect">
            <a:avLst/>
          </a:prstGeom>
        </p:spPr>
      </p:pic>
    </p:spTree>
    <p:extLst>
      <p:ext uri="{BB962C8B-B14F-4D97-AF65-F5344CB8AC3E}">
        <p14:creationId xmlns:p14="http://schemas.microsoft.com/office/powerpoint/2010/main" val="3689503695"/>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down)">
                                      <p:cBhvr>
                                        <p:cTn id="13" dur="580">
                                          <p:stCondLst>
                                            <p:cond delay="0"/>
                                          </p:stCondLst>
                                        </p:cTn>
                                        <p:tgtEl>
                                          <p:spTgt spid="25"/>
                                        </p:tgtEl>
                                      </p:cBhvr>
                                    </p:animEffect>
                                    <p:anim calcmode="lin" valueType="num">
                                      <p:cBhvr>
                                        <p:cTn id="14"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19" dur="26">
                                          <p:stCondLst>
                                            <p:cond delay="650"/>
                                          </p:stCondLst>
                                        </p:cTn>
                                        <p:tgtEl>
                                          <p:spTgt spid="25"/>
                                        </p:tgtEl>
                                      </p:cBhvr>
                                      <p:to x="100000" y="60000"/>
                                    </p:animScale>
                                    <p:animScale>
                                      <p:cBhvr>
                                        <p:cTn id="20" dur="166" decel="50000">
                                          <p:stCondLst>
                                            <p:cond delay="676"/>
                                          </p:stCondLst>
                                        </p:cTn>
                                        <p:tgtEl>
                                          <p:spTgt spid="25"/>
                                        </p:tgtEl>
                                      </p:cBhvr>
                                      <p:to x="100000" y="100000"/>
                                    </p:animScale>
                                    <p:animScale>
                                      <p:cBhvr>
                                        <p:cTn id="21" dur="26">
                                          <p:stCondLst>
                                            <p:cond delay="1312"/>
                                          </p:stCondLst>
                                        </p:cTn>
                                        <p:tgtEl>
                                          <p:spTgt spid="25"/>
                                        </p:tgtEl>
                                      </p:cBhvr>
                                      <p:to x="100000" y="80000"/>
                                    </p:animScale>
                                    <p:animScale>
                                      <p:cBhvr>
                                        <p:cTn id="22" dur="166" decel="50000">
                                          <p:stCondLst>
                                            <p:cond delay="1338"/>
                                          </p:stCondLst>
                                        </p:cTn>
                                        <p:tgtEl>
                                          <p:spTgt spid="25"/>
                                        </p:tgtEl>
                                      </p:cBhvr>
                                      <p:to x="100000" y="100000"/>
                                    </p:animScale>
                                    <p:animScale>
                                      <p:cBhvr>
                                        <p:cTn id="23" dur="26">
                                          <p:stCondLst>
                                            <p:cond delay="1642"/>
                                          </p:stCondLst>
                                        </p:cTn>
                                        <p:tgtEl>
                                          <p:spTgt spid="25"/>
                                        </p:tgtEl>
                                      </p:cBhvr>
                                      <p:to x="100000" y="90000"/>
                                    </p:animScale>
                                    <p:animScale>
                                      <p:cBhvr>
                                        <p:cTn id="24" dur="166" decel="50000">
                                          <p:stCondLst>
                                            <p:cond delay="1668"/>
                                          </p:stCondLst>
                                        </p:cTn>
                                        <p:tgtEl>
                                          <p:spTgt spid="25"/>
                                        </p:tgtEl>
                                      </p:cBhvr>
                                      <p:to x="100000" y="100000"/>
                                    </p:animScale>
                                    <p:animScale>
                                      <p:cBhvr>
                                        <p:cTn id="25" dur="26">
                                          <p:stCondLst>
                                            <p:cond delay="1808"/>
                                          </p:stCondLst>
                                        </p:cTn>
                                        <p:tgtEl>
                                          <p:spTgt spid="25"/>
                                        </p:tgtEl>
                                      </p:cBhvr>
                                      <p:to x="100000" y="95000"/>
                                    </p:animScale>
                                    <p:animScale>
                                      <p:cBhvr>
                                        <p:cTn id="26" dur="166" decel="50000">
                                          <p:stCondLst>
                                            <p:cond delay="1834"/>
                                          </p:stCondLst>
                                        </p:cTn>
                                        <p:tgtEl>
                                          <p:spTgt spid="25"/>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p:cTn id="41" dur="500" fill="hold"/>
                                        <p:tgtEl>
                                          <p:spTgt spid="29"/>
                                        </p:tgtEl>
                                        <p:attrNameLst>
                                          <p:attrName>ppt_w</p:attrName>
                                        </p:attrNameLst>
                                      </p:cBhvr>
                                      <p:tavLst>
                                        <p:tav tm="0">
                                          <p:val>
                                            <p:fltVal val="0"/>
                                          </p:val>
                                        </p:tav>
                                        <p:tav tm="100000">
                                          <p:val>
                                            <p:strVal val="#ppt_w"/>
                                          </p:val>
                                        </p:tav>
                                      </p:tavLst>
                                    </p:anim>
                                    <p:anim calcmode="lin" valueType="num">
                                      <p:cBhvr>
                                        <p:cTn id="42" dur="500" fill="hold"/>
                                        <p:tgtEl>
                                          <p:spTgt spid="29"/>
                                        </p:tgtEl>
                                        <p:attrNameLst>
                                          <p:attrName>ppt_h</p:attrName>
                                        </p:attrNameLst>
                                      </p:cBhvr>
                                      <p:tavLst>
                                        <p:tav tm="0">
                                          <p:val>
                                            <p:fltVal val="0"/>
                                          </p:val>
                                        </p:tav>
                                        <p:tav tm="100000">
                                          <p:val>
                                            <p:strVal val="#ppt_h"/>
                                          </p:val>
                                        </p:tav>
                                      </p:tavLst>
                                    </p:anim>
                                    <p:animEffect transition="in" filter="fade">
                                      <p:cBhvr>
                                        <p:cTn id="43" dur="500"/>
                                        <p:tgtEl>
                                          <p:spTgt spid="29"/>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6" presetClass="entr" presetSubtype="0" fill="hold"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down)">
                                      <p:cBhvr>
                                        <p:cTn id="52" dur="580">
                                          <p:stCondLst>
                                            <p:cond delay="0"/>
                                          </p:stCondLst>
                                        </p:cTn>
                                        <p:tgtEl>
                                          <p:spTgt spid="31"/>
                                        </p:tgtEl>
                                      </p:cBhvr>
                                    </p:animEffect>
                                    <p:anim calcmode="lin" valueType="num">
                                      <p:cBhvr>
                                        <p:cTn id="53"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54"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55"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56"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57"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58" dur="26">
                                          <p:stCondLst>
                                            <p:cond delay="650"/>
                                          </p:stCondLst>
                                        </p:cTn>
                                        <p:tgtEl>
                                          <p:spTgt spid="31"/>
                                        </p:tgtEl>
                                      </p:cBhvr>
                                      <p:to x="100000" y="60000"/>
                                    </p:animScale>
                                    <p:animScale>
                                      <p:cBhvr>
                                        <p:cTn id="59" dur="166" decel="50000">
                                          <p:stCondLst>
                                            <p:cond delay="676"/>
                                          </p:stCondLst>
                                        </p:cTn>
                                        <p:tgtEl>
                                          <p:spTgt spid="31"/>
                                        </p:tgtEl>
                                      </p:cBhvr>
                                      <p:to x="100000" y="100000"/>
                                    </p:animScale>
                                    <p:animScale>
                                      <p:cBhvr>
                                        <p:cTn id="60" dur="26">
                                          <p:stCondLst>
                                            <p:cond delay="1312"/>
                                          </p:stCondLst>
                                        </p:cTn>
                                        <p:tgtEl>
                                          <p:spTgt spid="31"/>
                                        </p:tgtEl>
                                      </p:cBhvr>
                                      <p:to x="100000" y="80000"/>
                                    </p:animScale>
                                    <p:animScale>
                                      <p:cBhvr>
                                        <p:cTn id="61" dur="166" decel="50000">
                                          <p:stCondLst>
                                            <p:cond delay="1338"/>
                                          </p:stCondLst>
                                        </p:cTn>
                                        <p:tgtEl>
                                          <p:spTgt spid="31"/>
                                        </p:tgtEl>
                                      </p:cBhvr>
                                      <p:to x="100000" y="100000"/>
                                    </p:animScale>
                                    <p:animScale>
                                      <p:cBhvr>
                                        <p:cTn id="62" dur="26">
                                          <p:stCondLst>
                                            <p:cond delay="1642"/>
                                          </p:stCondLst>
                                        </p:cTn>
                                        <p:tgtEl>
                                          <p:spTgt spid="31"/>
                                        </p:tgtEl>
                                      </p:cBhvr>
                                      <p:to x="100000" y="90000"/>
                                    </p:animScale>
                                    <p:animScale>
                                      <p:cBhvr>
                                        <p:cTn id="63" dur="166" decel="50000">
                                          <p:stCondLst>
                                            <p:cond delay="1668"/>
                                          </p:stCondLst>
                                        </p:cTn>
                                        <p:tgtEl>
                                          <p:spTgt spid="31"/>
                                        </p:tgtEl>
                                      </p:cBhvr>
                                      <p:to x="100000" y="100000"/>
                                    </p:animScale>
                                    <p:animScale>
                                      <p:cBhvr>
                                        <p:cTn id="64" dur="26">
                                          <p:stCondLst>
                                            <p:cond delay="1808"/>
                                          </p:stCondLst>
                                        </p:cTn>
                                        <p:tgtEl>
                                          <p:spTgt spid="31"/>
                                        </p:tgtEl>
                                      </p:cBhvr>
                                      <p:to x="100000" y="95000"/>
                                    </p:animScale>
                                    <p:animScale>
                                      <p:cBhvr>
                                        <p:cTn id="65" dur="166" decel="50000">
                                          <p:stCondLst>
                                            <p:cond delay="1834"/>
                                          </p:stCondLst>
                                        </p:cTn>
                                        <p:tgtEl>
                                          <p:spTgt spid="31"/>
                                        </p:tgtEl>
                                      </p:cBhvr>
                                      <p:to x="100000" y="100000"/>
                                    </p:animScale>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fade">
                                      <p:cBhvr>
                                        <p:cTn id="70" dur="500"/>
                                        <p:tgtEl>
                                          <p:spTgt spid="3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wipe(down)">
                                      <p:cBhvr>
                                        <p:cTn id="75" dur="500"/>
                                        <p:tgtEl>
                                          <p:spTgt spid="4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500"/>
                                        <p:tgtEl>
                                          <p:spTgt spid="43"/>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45"/>
                                        </p:tgtEl>
                                        <p:attrNameLst>
                                          <p:attrName>style.visibility</p:attrName>
                                        </p:attrNameLst>
                                      </p:cBhvr>
                                      <p:to>
                                        <p:strVal val="visible"/>
                                      </p:to>
                                    </p:set>
                                    <p:animEffect transition="in" filter="fade">
                                      <p:cBhvr>
                                        <p:cTn id="85" dur="500"/>
                                        <p:tgtEl>
                                          <p:spTgt spid="45"/>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8"/>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37"/>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6" presetClass="entr" presetSubtype="21" fill="hold" nodeType="click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barn(inVertical)">
                                      <p:cBhvr>
                                        <p:cTn id="98"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lèche droite à entaille 11"/>
          <p:cNvSpPr/>
          <p:nvPr/>
        </p:nvSpPr>
        <p:spPr>
          <a:xfrm>
            <a:off x="-66466" y="0"/>
            <a:ext cx="2529414" cy="87376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INTRODUCTION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7" name="Flèche droite à entaille 16"/>
          <p:cNvSpPr/>
          <p:nvPr/>
        </p:nvSpPr>
        <p:spPr>
          <a:xfrm>
            <a:off x="4832563" y="-30480"/>
            <a:ext cx="2620428" cy="93472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SOLUTION AU PROBLEME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8" name="Flèche droite à entaille 17"/>
          <p:cNvSpPr/>
          <p:nvPr/>
        </p:nvSpPr>
        <p:spPr>
          <a:xfrm>
            <a:off x="7227356" y="-72209"/>
            <a:ext cx="2942804" cy="1008018"/>
          </a:xfrm>
          <a:prstGeom prst="notchedRightArrow">
            <a:avLst/>
          </a:prstGeom>
          <a:solidFill>
            <a:srgbClr val="FF0000"/>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CONCEPTION ET REALISATION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9" name="Flèche droite à entaille 18"/>
          <p:cNvSpPr/>
          <p:nvPr/>
        </p:nvSpPr>
        <p:spPr>
          <a:xfrm>
            <a:off x="10002520" y="-103778"/>
            <a:ext cx="2291710"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CONCLUSION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0" name="Flèche droite à entaille 19"/>
          <p:cNvSpPr/>
          <p:nvPr/>
        </p:nvSpPr>
        <p:spPr>
          <a:xfrm>
            <a:off x="2283034" y="-72209"/>
            <a:ext cx="2738972" cy="1018178"/>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CONTEXTE ET PROBLEMATIQUE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 name="Titre 1">
            <a:extLst>
              <a:ext uri="{FF2B5EF4-FFF2-40B4-BE49-F238E27FC236}">
                <a16:creationId xmlns:a16="http://schemas.microsoft.com/office/drawing/2014/main" id="{901AD555-C4DE-AA45-42A1-777970DD3D33}"/>
              </a:ext>
            </a:extLst>
          </p:cNvPr>
          <p:cNvSpPr txBox="1">
            <a:spLocks/>
          </p:cNvSpPr>
          <p:nvPr/>
        </p:nvSpPr>
        <p:spPr>
          <a:xfrm>
            <a:off x="566162" y="1712681"/>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latin typeface="Times New Roman" panose="02020603050405020304" pitchFamily="18" charset="0"/>
                <a:cs typeface="Times New Roman" panose="02020603050405020304" pitchFamily="18" charset="0"/>
              </a:rPr>
              <a:t>Revue de la </a:t>
            </a:r>
            <a:r>
              <a:rPr lang="en-US" b="1" dirty="0" err="1">
                <a:solidFill>
                  <a:schemeClr val="tx1"/>
                </a:solidFill>
                <a:latin typeface="Times New Roman" panose="02020603050405020304" pitchFamily="18" charset="0"/>
                <a:cs typeface="Times New Roman" panose="02020603050405020304" pitchFamily="18" charset="0"/>
              </a:rPr>
              <a:t>litterature</a:t>
            </a:r>
            <a:endParaRPr lang="fr-FR" b="1" dirty="0">
              <a:solidFill>
                <a:schemeClr val="tx1"/>
              </a:solidFill>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26B3F69A-7E1A-0C89-373A-C229BA7A345E}"/>
              </a:ext>
            </a:extLst>
          </p:cNvPr>
          <p:cNvSpPr txBox="1"/>
          <p:nvPr/>
        </p:nvSpPr>
        <p:spPr>
          <a:xfrm>
            <a:off x="631371" y="2536371"/>
            <a:ext cx="8911687" cy="2862322"/>
          </a:xfrm>
          <a:prstGeom prst="rect">
            <a:avLst/>
          </a:prstGeom>
          <a:noFill/>
        </p:spPr>
        <p:txBody>
          <a:bodyPr wrap="square">
            <a:spAutoFit/>
          </a:bodyPr>
          <a:lstStyle/>
          <a:p>
            <a:pPr algn="just"/>
            <a:r>
              <a:rPr lang="fr-FR" sz="2000" dirty="0">
                <a:latin typeface="Times New Roman" panose="02020603050405020304" pitchFamily="18" charset="0"/>
                <a:cs typeface="Times New Roman" panose="02020603050405020304" pitchFamily="18" charset="0"/>
              </a:rPr>
              <a:t>Les estimations OMS–UNICEF–Banque mondiale indiquent qu’en 2024, 150,2 millions d’enfants souffraient d’un retard de croissance et 42,8 millions d’émaciation dans le monde. Les études basées sur les enquêtes DHS identifient de manière récurrente l’âge de l’enfant, l’éducation maternelle, la richesse du ménage, l’environnement sanitaire et l’état nutritionnel maternel comme principaux déterminants de la sous-nutrition. Les travaux récents montrent également une progression des approches de Machine Learning pour améliorer la prédiction du risque nutritionnel. Toutefois, les architectures de Stacking appliquées aux données DHS camerounaises demeurent peu explorées.</a:t>
            </a:r>
          </a:p>
        </p:txBody>
      </p:sp>
      <p:pic>
        <p:nvPicPr>
          <p:cNvPr id="3" name="Image 10">
            <a:extLst>
              <a:ext uri="{FF2B5EF4-FFF2-40B4-BE49-F238E27FC236}">
                <a16:creationId xmlns:a16="http://schemas.microsoft.com/office/drawing/2014/main" id="{CF59A4A2-FFE1-16C2-1322-5493C815A3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38364" y="6110189"/>
            <a:ext cx="2010206" cy="787854"/>
          </a:xfrm>
          <a:prstGeom prst="rect">
            <a:avLst/>
          </a:prstGeom>
        </p:spPr>
      </p:pic>
    </p:spTree>
    <p:extLst>
      <p:ext uri="{BB962C8B-B14F-4D97-AF65-F5344CB8AC3E}">
        <p14:creationId xmlns:p14="http://schemas.microsoft.com/office/powerpoint/2010/main" val="352116315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89549-0C08-25CD-FA45-2664CD52B701}"/>
            </a:ext>
          </a:extLst>
        </p:cNvPr>
        <p:cNvGrpSpPr/>
        <p:nvPr/>
      </p:nvGrpSpPr>
      <p:grpSpPr>
        <a:xfrm>
          <a:off x="0" y="0"/>
          <a:ext cx="0" cy="0"/>
          <a:chOff x="0" y="0"/>
          <a:chExt cx="0" cy="0"/>
        </a:xfrm>
      </p:grpSpPr>
      <p:sp>
        <p:nvSpPr>
          <p:cNvPr id="12" name="Flèche droite à entaille 11">
            <a:extLst>
              <a:ext uri="{FF2B5EF4-FFF2-40B4-BE49-F238E27FC236}">
                <a16:creationId xmlns:a16="http://schemas.microsoft.com/office/drawing/2014/main" id="{1D589372-1294-3483-4A15-3DF501EF793F}"/>
              </a:ext>
            </a:extLst>
          </p:cNvPr>
          <p:cNvSpPr/>
          <p:nvPr/>
        </p:nvSpPr>
        <p:spPr>
          <a:xfrm>
            <a:off x="-66466" y="0"/>
            <a:ext cx="2529414" cy="873760"/>
          </a:xfrm>
          <a:prstGeom prst="notchedRightArrow">
            <a:avLst/>
          </a:prstGeom>
          <a:solidFill>
            <a:srgbClr val="FF0000"/>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INTRODUCTION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7" name="Flèche droite à entaille 16">
            <a:extLst>
              <a:ext uri="{FF2B5EF4-FFF2-40B4-BE49-F238E27FC236}">
                <a16:creationId xmlns:a16="http://schemas.microsoft.com/office/drawing/2014/main" id="{CD62A681-7A86-4E6D-BD0D-344D88C4B862}"/>
              </a:ext>
            </a:extLst>
          </p:cNvPr>
          <p:cNvSpPr/>
          <p:nvPr/>
        </p:nvSpPr>
        <p:spPr>
          <a:xfrm>
            <a:off x="4832563" y="-30480"/>
            <a:ext cx="2620428" cy="934720"/>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SOLUTION AU PROBLEME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8" name="Flèche droite à entaille 17">
            <a:extLst>
              <a:ext uri="{FF2B5EF4-FFF2-40B4-BE49-F238E27FC236}">
                <a16:creationId xmlns:a16="http://schemas.microsoft.com/office/drawing/2014/main" id="{FB559CDB-C0E4-689E-4AE6-350B04296902}"/>
              </a:ext>
            </a:extLst>
          </p:cNvPr>
          <p:cNvSpPr/>
          <p:nvPr/>
        </p:nvSpPr>
        <p:spPr>
          <a:xfrm>
            <a:off x="7227356" y="-72209"/>
            <a:ext cx="2942804"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r>
              <a:rPr lang="en-US" b="1" dirty="0">
                <a:solidFill>
                  <a:schemeClr val="tx1"/>
                </a:solidFill>
                <a:latin typeface="Times New Roman" panose="02020603050405020304" pitchFamily="18" charset="0"/>
                <a:cs typeface="Times New Roman" panose="02020603050405020304" pitchFamily="18" charset="0"/>
              </a:rPr>
              <a:t>CONCEPTION ET REALISATION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9" name="Flèche droite à entaille 18">
            <a:extLst>
              <a:ext uri="{FF2B5EF4-FFF2-40B4-BE49-F238E27FC236}">
                <a16:creationId xmlns:a16="http://schemas.microsoft.com/office/drawing/2014/main" id="{AB3710DA-00F3-F8FA-AC77-CC186C9E536D}"/>
              </a:ext>
            </a:extLst>
          </p:cNvPr>
          <p:cNvSpPr/>
          <p:nvPr/>
        </p:nvSpPr>
        <p:spPr>
          <a:xfrm>
            <a:off x="10002520" y="-103778"/>
            <a:ext cx="2291710"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CONCLUSION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0" name="Flèche droite à entaille 19">
            <a:extLst>
              <a:ext uri="{FF2B5EF4-FFF2-40B4-BE49-F238E27FC236}">
                <a16:creationId xmlns:a16="http://schemas.microsoft.com/office/drawing/2014/main" id="{12F2C0D3-A009-A684-6C1B-618A5FBDABEF}"/>
              </a:ext>
            </a:extLst>
          </p:cNvPr>
          <p:cNvSpPr/>
          <p:nvPr/>
        </p:nvSpPr>
        <p:spPr>
          <a:xfrm>
            <a:off x="2273505" y="-72209"/>
            <a:ext cx="2738972" cy="101817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CONTEXTE ET PROBLEMATIQUE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 name="Titre 1">
            <a:extLst>
              <a:ext uri="{FF2B5EF4-FFF2-40B4-BE49-F238E27FC236}">
                <a16:creationId xmlns:a16="http://schemas.microsoft.com/office/drawing/2014/main" id="{B6447E25-0387-1A99-9B01-9BE43A336EFF}"/>
              </a:ext>
            </a:extLst>
          </p:cNvPr>
          <p:cNvSpPr txBox="1">
            <a:spLocks/>
          </p:cNvSpPr>
          <p:nvPr/>
        </p:nvSpPr>
        <p:spPr>
          <a:xfrm>
            <a:off x="459325" y="1538510"/>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err="1">
                <a:solidFill>
                  <a:schemeClr val="tx1"/>
                </a:solidFill>
                <a:latin typeface="Times New Roman" panose="02020603050405020304" pitchFamily="18" charset="0"/>
                <a:cs typeface="Times New Roman" panose="02020603050405020304" pitchFamily="18" charset="0"/>
              </a:rPr>
              <a:t>Modelisation</a:t>
            </a:r>
            <a:r>
              <a:rPr lang="en-US" b="1" dirty="0">
                <a:solidFill>
                  <a:schemeClr val="tx1"/>
                </a:solidFill>
                <a:latin typeface="Times New Roman" panose="02020603050405020304" pitchFamily="18" charset="0"/>
                <a:cs typeface="Times New Roman" panose="02020603050405020304" pitchFamily="18" charset="0"/>
              </a:rPr>
              <a:t> et analyses </a:t>
            </a:r>
            <a:r>
              <a:rPr lang="en-US" b="1" dirty="0" err="1">
                <a:solidFill>
                  <a:schemeClr val="tx1"/>
                </a:solidFill>
                <a:latin typeface="Times New Roman" panose="02020603050405020304" pitchFamily="18" charset="0"/>
                <a:cs typeface="Times New Roman" panose="02020603050405020304" pitchFamily="18" charset="0"/>
              </a:rPr>
              <a:t>statistiques</a:t>
            </a:r>
            <a:endParaRPr lang="fr-FR" b="1" dirty="0">
              <a:solidFill>
                <a:schemeClr val="tx1"/>
              </a:solidFill>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E82C6833-7DED-D444-57CF-24B6B2E5DA07}"/>
              </a:ext>
            </a:extLst>
          </p:cNvPr>
          <p:cNvSpPr txBox="1">
            <a:spLocks/>
          </p:cNvSpPr>
          <p:nvPr/>
        </p:nvSpPr>
        <p:spPr>
          <a:xfrm>
            <a:off x="455612" y="2259671"/>
            <a:ext cx="8915400"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fr-FR" sz="2000" dirty="0">
                <a:latin typeface="Times New Roman" panose="02020603050405020304" pitchFamily="18" charset="0"/>
                <a:cs typeface="Times New Roman" panose="02020603050405020304" pitchFamily="18" charset="0"/>
              </a:rPr>
              <a:t>Après le prétraitement des données </a:t>
            </a:r>
            <a:r>
              <a:rPr lang="fr-FR" sz="2000" b="1" dirty="0">
                <a:latin typeface="Times New Roman" panose="02020603050405020304" pitchFamily="18" charset="0"/>
                <a:cs typeface="Times New Roman" panose="02020603050405020304" pitchFamily="18" charset="0"/>
              </a:rPr>
              <a:t>EDS Cameroun 2018 </a:t>
            </a:r>
            <a:r>
              <a:rPr lang="fr-FR" sz="2000" dirty="0">
                <a:latin typeface="Times New Roman" panose="02020603050405020304" pitchFamily="18" charset="0"/>
                <a:cs typeface="Times New Roman" panose="02020603050405020304" pitchFamily="18" charset="0"/>
              </a:rPr>
              <a:t>(nettoyage, gestion des valeurs manquantes, recodage et création des variables cibles), les variables explicatives ont été classées en variables quantitatives et qualitatives. Une analyse descriptive univariée a permis de caractériser la distribution des données. Les hypothèses statistiques ont ensuite été vérifiées à l'aide de </a:t>
            </a:r>
            <a:r>
              <a:rPr lang="fr-FR" sz="2000" b="1" dirty="0">
                <a:latin typeface="Times New Roman" panose="02020603050405020304" pitchFamily="18" charset="0"/>
                <a:cs typeface="Times New Roman" panose="02020603050405020304" pitchFamily="18" charset="0"/>
              </a:rPr>
              <a:t>tests de normalité (Shapiro-Wilk) </a:t>
            </a:r>
            <a:r>
              <a:rPr lang="fr-FR" sz="2000" dirty="0">
                <a:latin typeface="Times New Roman" panose="02020603050405020304" pitchFamily="18" charset="0"/>
                <a:cs typeface="Times New Roman" panose="02020603050405020304" pitchFamily="18" charset="0"/>
              </a:rPr>
              <a:t>pour les variables quantitatives et de </a:t>
            </a:r>
            <a:r>
              <a:rPr lang="fr-FR" sz="2000" b="1" dirty="0">
                <a:latin typeface="Times New Roman" panose="02020603050405020304" pitchFamily="18" charset="0"/>
                <a:cs typeface="Times New Roman" panose="02020603050405020304" pitchFamily="18" charset="0"/>
              </a:rPr>
              <a:t>tests d'association (Chi²) </a:t>
            </a:r>
            <a:r>
              <a:rPr lang="fr-FR" sz="2000" dirty="0">
                <a:latin typeface="Times New Roman" panose="02020603050405020304" pitchFamily="18" charset="0"/>
                <a:cs typeface="Times New Roman" panose="02020603050405020304" pitchFamily="18" charset="0"/>
              </a:rPr>
              <a:t>ainsi que du </a:t>
            </a:r>
            <a:r>
              <a:rPr lang="fr-FR" sz="2000" b="1" dirty="0">
                <a:latin typeface="Times New Roman" panose="02020603050405020304" pitchFamily="18" charset="0"/>
                <a:cs typeface="Times New Roman" panose="02020603050405020304" pitchFamily="18" charset="0"/>
              </a:rPr>
              <a:t>facteur d'inflation de variance (VIF) </a:t>
            </a:r>
            <a:r>
              <a:rPr lang="fr-FR" sz="2000" dirty="0">
                <a:latin typeface="Times New Roman" panose="02020603050405020304" pitchFamily="18" charset="0"/>
                <a:cs typeface="Times New Roman" panose="02020603050405020304" pitchFamily="18" charset="0"/>
              </a:rPr>
              <a:t>pour les variables qualitatives. Les associations entre variables explicatives et formes de sous-nutrition ont été évaluées par analyses bivariées puis multivariées. Une </a:t>
            </a:r>
            <a:r>
              <a:rPr lang="fr-FR" sz="2000" b="1" dirty="0">
                <a:latin typeface="Times New Roman" panose="02020603050405020304" pitchFamily="18" charset="0"/>
                <a:cs typeface="Times New Roman" panose="02020603050405020304" pitchFamily="18" charset="0"/>
              </a:rPr>
              <a:t>matrice de corrélation de Pearson et les coefficients de </a:t>
            </a:r>
            <a:r>
              <a:rPr lang="fr-FR" sz="2000" b="1" dirty="0" err="1">
                <a:latin typeface="Times New Roman" panose="02020603050405020304" pitchFamily="18" charset="0"/>
                <a:cs typeface="Times New Roman" panose="02020603050405020304" pitchFamily="18" charset="0"/>
              </a:rPr>
              <a:t>Cramér</a:t>
            </a:r>
            <a:r>
              <a:rPr lang="fr-FR" sz="2000" b="1" dirty="0">
                <a:latin typeface="Times New Roman" panose="02020603050405020304" pitchFamily="18" charset="0"/>
                <a:cs typeface="Times New Roman" panose="02020603050405020304" pitchFamily="18" charset="0"/>
              </a:rPr>
              <a:t>-V</a:t>
            </a:r>
            <a:r>
              <a:rPr lang="fr-FR" sz="2000" dirty="0">
                <a:latin typeface="Times New Roman" panose="02020603050405020304" pitchFamily="18" charset="0"/>
                <a:cs typeface="Times New Roman" panose="02020603050405020304" pitchFamily="18" charset="0"/>
              </a:rPr>
              <a:t> ont été utilisés pour étudier les dépendances entre variables. Les variables présentant une valeur </a:t>
            </a:r>
            <a:r>
              <a:rPr lang="fr-FR" sz="2000" b="1" dirty="0">
                <a:latin typeface="Times New Roman" panose="02020603050405020304" pitchFamily="18" charset="0"/>
                <a:cs typeface="Times New Roman" panose="02020603050405020304" pitchFamily="18" charset="0"/>
              </a:rPr>
              <a:t>p &lt; 0,20 </a:t>
            </a:r>
            <a:r>
              <a:rPr lang="fr-FR" sz="2000" dirty="0">
                <a:latin typeface="Times New Roman" panose="02020603050405020304" pitchFamily="18" charset="0"/>
                <a:cs typeface="Times New Roman" panose="02020603050405020304" pitchFamily="18" charset="0"/>
              </a:rPr>
              <a:t>ont été retenues pour la modélisation finale par régression logistique multiple sous </a:t>
            </a:r>
            <a:r>
              <a:rPr lang="fr-FR" sz="2000" b="1" dirty="0" err="1">
                <a:latin typeface="Times New Roman" panose="02020603050405020304" pitchFamily="18" charset="0"/>
                <a:cs typeface="Times New Roman" panose="02020603050405020304" pitchFamily="18" charset="0"/>
              </a:rPr>
              <a:t>Statsmodels</a:t>
            </a:r>
            <a:r>
              <a:rPr lang="fr-FR" sz="2000" dirty="0">
                <a:latin typeface="Times New Roman" panose="02020603050405020304" pitchFamily="18" charset="0"/>
                <a:cs typeface="Times New Roman" panose="02020603050405020304" pitchFamily="18" charset="0"/>
              </a:rPr>
              <a:t>.</a:t>
            </a:r>
          </a:p>
        </p:txBody>
      </p:sp>
      <p:pic>
        <p:nvPicPr>
          <p:cNvPr id="4" name="Image 10">
            <a:extLst>
              <a:ext uri="{FF2B5EF4-FFF2-40B4-BE49-F238E27FC236}">
                <a16:creationId xmlns:a16="http://schemas.microsoft.com/office/drawing/2014/main" id="{48787095-E4FD-33CC-0C8D-FDEE4DEE7A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38364" y="6110189"/>
            <a:ext cx="2010206" cy="787854"/>
          </a:xfrm>
          <a:prstGeom prst="rect">
            <a:avLst/>
          </a:prstGeom>
        </p:spPr>
      </p:pic>
    </p:spTree>
    <p:extLst>
      <p:ext uri="{BB962C8B-B14F-4D97-AF65-F5344CB8AC3E}">
        <p14:creationId xmlns:p14="http://schemas.microsoft.com/office/powerpoint/2010/main" val="229508487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ACDE8DB-6E99-57D5-EC7D-5DAC5AF6E1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76200"/>
            <a:ext cx="12192000" cy="4210460"/>
          </a:xfrm>
          <a:prstGeom prst="rect">
            <a:avLst/>
          </a:prstGeom>
        </p:spPr>
      </p:pic>
      <p:sp>
        <p:nvSpPr>
          <p:cNvPr id="4" name="Espace réservé du contenu 2">
            <a:extLst>
              <a:ext uri="{FF2B5EF4-FFF2-40B4-BE49-F238E27FC236}">
                <a16:creationId xmlns:a16="http://schemas.microsoft.com/office/drawing/2014/main" id="{397FC052-1E3F-1AE5-EFB7-F08505367499}"/>
              </a:ext>
            </a:extLst>
          </p:cNvPr>
          <p:cNvSpPr txBox="1">
            <a:spLocks/>
          </p:cNvSpPr>
          <p:nvPr/>
        </p:nvSpPr>
        <p:spPr>
          <a:xfrm>
            <a:off x="324983" y="4310743"/>
            <a:ext cx="8915400"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fr-FR" sz="2000" dirty="0"/>
              <a:t>Le retard de croissance représente la forme de malnutrition la plus fréquente dans l'échantillon, ce qui est cohérent avec les rapports DHS et OMS pour l'Afrique subsaharienne. </a:t>
            </a:r>
          </a:p>
          <a:p>
            <a:pPr algn="just"/>
            <a:r>
              <a:rPr lang="fr-FR" sz="2000" dirty="0"/>
              <a:t>L’ émaciation apparaît beaucoup plus rare et traduit essentiellement des situations aiguës. </a:t>
            </a:r>
          </a:p>
          <a:p>
            <a:pPr algn="just"/>
            <a:r>
              <a:rPr lang="fr-FR" sz="2000" dirty="0"/>
              <a:t>L'insuffisance pondérale présente une fréquence intermédiaire entre les deux autres indicateurs</a:t>
            </a:r>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2185162"/>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6685FFE-38BB-2D0E-23FE-D19B29CF76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1191" y="0"/>
            <a:ext cx="6972728" cy="6858000"/>
          </a:xfrm>
          <a:prstGeom prst="rect">
            <a:avLst/>
          </a:prstGeom>
        </p:spPr>
      </p:pic>
      <p:sp>
        <p:nvSpPr>
          <p:cNvPr id="2" name="Espace réservé du contenu 2">
            <a:extLst>
              <a:ext uri="{FF2B5EF4-FFF2-40B4-BE49-F238E27FC236}">
                <a16:creationId xmlns:a16="http://schemas.microsoft.com/office/drawing/2014/main" id="{A970E357-0CEC-61D4-8F43-DF1EF11E8878}"/>
              </a:ext>
            </a:extLst>
          </p:cNvPr>
          <p:cNvSpPr txBox="1">
            <a:spLocks/>
          </p:cNvSpPr>
          <p:nvPr/>
        </p:nvSpPr>
        <p:spPr>
          <a:xfrm>
            <a:off x="0" y="1147281"/>
            <a:ext cx="5291191"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fr-FR" sz="1600" dirty="0">
                <a:latin typeface="Times New Roman" panose="02020603050405020304" pitchFamily="18" charset="0"/>
                <a:cs typeface="Times New Roman" panose="02020603050405020304" pitchFamily="18" charset="0"/>
              </a:rPr>
              <a:t>L'âge des mères varie principalement entre </a:t>
            </a:r>
            <a:r>
              <a:rPr lang="fr-FR" sz="1600" b="1" dirty="0">
                <a:latin typeface="Times New Roman" panose="02020603050405020304" pitchFamily="18" charset="0"/>
                <a:cs typeface="Times New Roman" panose="02020603050405020304" pitchFamily="18" charset="0"/>
              </a:rPr>
              <a:t>20 et 35 ans</a:t>
            </a:r>
            <a:r>
              <a:rPr lang="fr-FR" sz="1600" dirty="0">
                <a:latin typeface="Times New Roman" panose="02020603050405020304" pitchFamily="18" charset="0"/>
                <a:cs typeface="Times New Roman" panose="02020603050405020304" pitchFamily="18" charset="0"/>
              </a:rPr>
              <a:t>, avec une concentration autour de </a:t>
            </a:r>
            <a:r>
              <a:rPr lang="fr-FR" sz="1600" b="1" dirty="0">
                <a:latin typeface="Times New Roman" panose="02020603050405020304" pitchFamily="18" charset="0"/>
                <a:cs typeface="Times New Roman" panose="02020603050405020304" pitchFamily="18" charset="0"/>
              </a:rPr>
              <a:t>25–30 ans</a:t>
            </a:r>
            <a:r>
              <a:rPr lang="fr-FR" sz="1600" dirty="0">
                <a:latin typeface="Times New Roman" panose="02020603050405020304" pitchFamily="18" charset="0"/>
                <a:cs typeface="Times New Roman" panose="02020603050405020304" pitchFamily="18" charset="0"/>
              </a:rPr>
              <a:t>, traduisant une </a:t>
            </a:r>
            <a:r>
              <a:rPr lang="fr-FR" sz="1600" b="1" dirty="0">
                <a:latin typeface="Times New Roman" panose="02020603050405020304" pitchFamily="18" charset="0"/>
                <a:cs typeface="Times New Roman" panose="02020603050405020304" pitchFamily="18" charset="0"/>
              </a:rPr>
              <a:t>population majoritairement en âge reproductif </a:t>
            </a:r>
            <a:r>
              <a:rPr lang="fr-FR" sz="1600" dirty="0">
                <a:latin typeface="Times New Roman" panose="02020603050405020304" pitchFamily="18" charset="0"/>
                <a:cs typeface="Times New Roman" panose="02020603050405020304" pitchFamily="18" charset="0"/>
              </a:rPr>
              <a:t>actif et une légère </a:t>
            </a:r>
            <a:r>
              <a:rPr lang="fr-FR" sz="1600" b="1" dirty="0">
                <a:latin typeface="Times New Roman" panose="02020603050405020304" pitchFamily="18" charset="0"/>
                <a:cs typeface="Times New Roman" panose="02020603050405020304" pitchFamily="18" charset="0"/>
              </a:rPr>
              <a:t>asymétrie à droite</a:t>
            </a:r>
            <a:r>
              <a:rPr lang="fr-FR" sz="1600" dirty="0">
                <a:latin typeface="Times New Roman" panose="02020603050405020304" pitchFamily="18" charset="0"/>
                <a:cs typeface="Times New Roman" panose="02020603050405020304" pitchFamily="18" charset="0"/>
              </a:rPr>
              <a:t>. </a:t>
            </a:r>
          </a:p>
          <a:p>
            <a:pPr algn="just"/>
            <a:r>
              <a:rPr lang="fr-FR" sz="1600" dirty="0">
                <a:latin typeface="Times New Roman" panose="02020603050405020304" pitchFamily="18" charset="0"/>
                <a:cs typeface="Times New Roman" panose="02020603050405020304" pitchFamily="18" charset="0"/>
              </a:rPr>
              <a:t>L'IMC maternel présente une distribution unimodale centrée autour de </a:t>
            </a:r>
            <a:r>
              <a:rPr lang="fr-FR" sz="1600" b="1" dirty="0">
                <a:latin typeface="Times New Roman" panose="02020603050405020304" pitchFamily="18" charset="0"/>
                <a:cs typeface="Times New Roman" panose="02020603050405020304" pitchFamily="18" charset="0"/>
              </a:rPr>
              <a:t>22–24 kg/m²</a:t>
            </a:r>
            <a:r>
              <a:rPr lang="fr-FR" sz="1600" dirty="0">
                <a:latin typeface="Times New Roman" panose="02020603050405020304" pitchFamily="18" charset="0"/>
                <a:cs typeface="Times New Roman" panose="02020603050405020304" pitchFamily="18" charset="0"/>
              </a:rPr>
              <a:t>, avec une </a:t>
            </a:r>
            <a:r>
              <a:rPr lang="fr-FR" sz="1600" b="1" dirty="0">
                <a:latin typeface="Times New Roman" panose="02020603050405020304" pitchFamily="18" charset="0"/>
                <a:cs typeface="Times New Roman" panose="02020603050405020304" pitchFamily="18" charset="0"/>
              </a:rPr>
              <a:t>asymétrie positive</a:t>
            </a:r>
            <a:r>
              <a:rPr lang="fr-FR" sz="1600" dirty="0">
                <a:latin typeface="Times New Roman" panose="02020603050405020304" pitchFamily="18" charset="0"/>
                <a:cs typeface="Times New Roman" panose="02020603050405020304" pitchFamily="18" charset="0"/>
              </a:rPr>
              <a:t> indiquant la présence de quelques valeurs élevées correspondant à des situations de surpoids ou d'obésité. </a:t>
            </a:r>
          </a:p>
          <a:p>
            <a:pPr algn="just"/>
            <a:r>
              <a:rPr lang="fr-FR" sz="1600" dirty="0">
                <a:latin typeface="Times New Roman" panose="02020603050405020304" pitchFamily="18" charset="0"/>
                <a:cs typeface="Times New Roman" panose="02020603050405020304" pitchFamily="18" charset="0"/>
              </a:rPr>
              <a:t>L'âge des enfants est relativement homogène entre </a:t>
            </a:r>
            <a:r>
              <a:rPr lang="fr-FR" sz="1600" b="1" dirty="0">
                <a:latin typeface="Times New Roman" panose="02020603050405020304" pitchFamily="18" charset="0"/>
                <a:cs typeface="Times New Roman" panose="02020603050405020304" pitchFamily="18" charset="0"/>
              </a:rPr>
              <a:t>0 et 59 mois</a:t>
            </a:r>
            <a:r>
              <a:rPr lang="fr-FR" sz="1600" dirty="0">
                <a:latin typeface="Times New Roman" panose="02020603050405020304" pitchFamily="18" charset="0"/>
                <a:cs typeface="Times New Roman" panose="02020603050405020304" pitchFamily="18" charset="0"/>
              </a:rPr>
              <a:t>, traduisant une bonne représentativité de l'ensemble des tranches d'âge couvertes par l'enquête DHS. </a:t>
            </a:r>
          </a:p>
          <a:p>
            <a:pPr algn="just"/>
            <a:r>
              <a:rPr lang="fr-FR" sz="1600" dirty="0">
                <a:latin typeface="Times New Roman" panose="02020603050405020304" pitchFamily="18" charset="0"/>
                <a:cs typeface="Times New Roman" panose="02020603050405020304" pitchFamily="18" charset="0"/>
              </a:rPr>
              <a:t>La distribution du Rang de naissance est fortement </a:t>
            </a:r>
            <a:r>
              <a:rPr lang="fr-FR" sz="1600" b="1" dirty="0">
                <a:latin typeface="Times New Roman" panose="02020603050405020304" pitchFamily="18" charset="0"/>
                <a:cs typeface="Times New Roman" panose="02020603050405020304" pitchFamily="18" charset="0"/>
              </a:rPr>
              <a:t>asymétrique à droite</a:t>
            </a:r>
            <a:r>
              <a:rPr lang="fr-FR" sz="1600" dirty="0">
                <a:latin typeface="Times New Roman" panose="02020603050405020304" pitchFamily="18" charset="0"/>
                <a:cs typeface="Times New Roman" panose="02020603050405020304" pitchFamily="18" charset="0"/>
              </a:rPr>
              <a:t>, avec une prédominance des premiers rangs de naissance et une diminution progressive de la fréquence pour les rangs élevés. </a:t>
            </a:r>
          </a:p>
          <a:p>
            <a:pPr algn="just"/>
            <a:r>
              <a:rPr lang="fr-FR" sz="1600" dirty="0">
                <a:latin typeface="Times New Roman" panose="02020603050405020304" pitchFamily="18" charset="0"/>
                <a:cs typeface="Times New Roman" panose="02020603050405020304" pitchFamily="18" charset="0"/>
              </a:rPr>
              <a:t>L'intervalle entre naissances présente une </a:t>
            </a:r>
            <a:r>
              <a:rPr lang="fr-FR" sz="1600" b="1" dirty="0">
                <a:latin typeface="Times New Roman" panose="02020603050405020304" pitchFamily="18" charset="0"/>
                <a:cs typeface="Times New Roman" panose="02020603050405020304" pitchFamily="18" charset="0"/>
              </a:rPr>
              <a:t>forte asymétrie positive</a:t>
            </a:r>
            <a:r>
              <a:rPr lang="fr-FR" sz="1600" dirty="0">
                <a:latin typeface="Times New Roman" panose="02020603050405020304" pitchFamily="18" charset="0"/>
                <a:cs typeface="Times New Roman" panose="02020603050405020304" pitchFamily="18" charset="0"/>
              </a:rPr>
              <a:t>, avec une concentration autour de </a:t>
            </a:r>
            <a:r>
              <a:rPr lang="fr-FR" sz="1600" b="1" dirty="0">
                <a:latin typeface="Times New Roman" panose="02020603050405020304" pitchFamily="18" charset="0"/>
                <a:cs typeface="Times New Roman" panose="02020603050405020304" pitchFamily="18" charset="0"/>
              </a:rPr>
              <a:t>24 à 36 mois </a:t>
            </a:r>
            <a:r>
              <a:rPr lang="fr-FR" sz="1600" dirty="0">
                <a:latin typeface="Times New Roman" panose="02020603050405020304" pitchFamily="18" charset="0"/>
                <a:cs typeface="Times New Roman" panose="02020603050405020304" pitchFamily="18" charset="0"/>
              </a:rPr>
              <a:t>et quelques intervalles exceptionnellement longs formant une longue queue de distribution.</a:t>
            </a:r>
          </a:p>
        </p:txBody>
      </p:sp>
      <p:sp>
        <p:nvSpPr>
          <p:cNvPr id="4" name="Titre 1">
            <a:extLst>
              <a:ext uri="{FF2B5EF4-FFF2-40B4-BE49-F238E27FC236}">
                <a16:creationId xmlns:a16="http://schemas.microsoft.com/office/drawing/2014/main" id="{E40AA72A-8F2E-A422-E467-AB5900B4117C}"/>
              </a:ext>
            </a:extLst>
          </p:cNvPr>
          <p:cNvSpPr txBox="1">
            <a:spLocks/>
          </p:cNvSpPr>
          <p:nvPr/>
        </p:nvSpPr>
        <p:spPr>
          <a:xfrm>
            <a:off x="85479" y="303531"/>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tx1"/>
                </a:solidFill>
                <a:latin typeface="Times New Roman" panose="02020603050405020304" pitchFamily="18" charset="0"/>
                <a:cs typeface="Times New Roman" panose="02020603050405020304" pitchFamily="18" charset="0"/>
              </a:rPr>
              <a:t>Interpretations de </a:t>
            </a:r>
            <a:r>
              <a:rPr lang="en-US" sz="2000" b="1" dirty="0" err="1">
                <a:solidFill>
                  <a:schemeClr val="tx1"/>
                </a:solidFill>
                <a:latin typeface="Times New Roman" panose="02020603050405020304" pitchFamily="18" charset="0"/>
                <a:cs typeface="Times New Roman" panose="02020603050405020304" pitchFamily="18" charset="0"/>
              </a:rPr>
              <a:t>l’analyse</a:t>
            </a:r>
            <a:r>
              <a:rPr lang="en-US" sz="2000" b="1" dirty="0">
                <a:solidFill>
                  <a:schemeClr val="tx1"/>
                </a:solidFill>
                <a:latin typeface="Times New Roman" panose="02020603050405020304" pitchFamily="18" charset="0"/>
                <a:cs typeface="Times New Roman" panose="02020603050405020304" pitchFamily="18" charset="0"/>
              </a:rPr>
              <a:t> de la distribution </a:t>
            </a:r>
          </a:p>
          <a:p>
            <a:r>
              <a:rPr lang="en-US" sz="2000" b="1" dirty="0">
                <a:solidFill>
                  <a:schemeClr val="tx1"/>
                </a:solidFill>
                <a:latin typeface="Times New Roman" panose="02020603050405020304" pitchFamily="18" charset="0"/>
                <a:cs typeface="Times New Roman" panose="02020603050405020304" pitchFamily="18" charset="0"/>
              </a:rPr>
              <a:t>des variables </a:t>
            </a:r>
            <a:r>
              <a:rPr lang="en-US" sz="2000" b="1" dirty="0" err="1">
                <a:solidFill>
                  <a:schemeClr val="tx1"/>
                </a:solidFill>
                <a:latin typeface="Times New Roman" panose="02020603050405020304" pitchFamily="18" charset="0"/>
                <a:cs typeface="Times New Roman" panose="02020603050405020304" pitchFamily="18" charset="0"/>
              </a:rPr>
              <a:t>quantitatives</a:t>
            </a:r>
            <a:endParaRPr lang="fr-FR" sz="2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359449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74413D1-3BD9-F9B4-1F88-DC90429215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4114" y="1"/>
            <a:ext cx="6607629" cy="6858000"/>
          </a:xfrm>
          <a:prstGeom prst="rect">
            <a:avLst/>
          </a:prstGeom>
        </p:spPr>
      </p:pic>
      <p:sp>
        <p:nvSpPr>
          <p:cNvPr id="4" name="Espace réservé du contenu 2">
            <a:extLst>
              <a:ext uri="{FF2B5EF4-FFF2-40B4-BE49-F238E27FC236}">
                <a16:creationId xmlns:a16="http://schemas.microsoft.com/office/drawing/2014/main" id="{56597374-B04E-B393-B658-990B21D2590E}"/>
              </a:ext>
            </a:extLst>
          </p:cNvPr>
          <p:cNvSpPr txBox="1">
            <a:spLocks/>
          </p:cNvSpPr>
          <p:nvPr/>
        </p:nvSpPr>
        <p:spPr>
          <a:xfrm>
            <a:off x="0" y="729343"/>
            <a:ext cx="5780314"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fr-FR" sz="1600" b="1" dirty="0">
                <a:latin typeface="Times New Roman" panose="02020603050405020304" pitchFamily="18" charset="0"/>
                <a:cs typeface="Times New Roman" panose="02020603050405020304" pitchFamily="18" charset="0"/>
              </a:rPr>
              <a:t>La corrélation la plus élevée est observée entre l'âge de la mère et le rang de naissance (r = 0,69)</a:t>
            </a:r>
            <a:r>
              <a:rPr lang="fr-FR" sz="1600" dirty="0">
                <a:latin typeface="Times New Roman" panose="02020603050405020304" pitchFamily="18" charset="0"/>
                <a:cs typeface="Times New Roman" panose="02020603050405020304" pitchFamily="18" charset="0"/>
              </a:rPr>
              <a:t>, traduisant une association positive modérée à forte. Les mères plus âgées tendent à avoir un nombre plus élevé d'enfants.</a:t>
            </a:r>
          </a:p>
          <a:p>
            <a:pPr algn="just"/>
            <a:r>
              <a:rPr lang="fr-FR" sz="1600" b="1" dirty="0">
                <a:latin typeface="Times New Roman" panose="02020603050405020304" pitchFamily="18" charset="0"/>
                <a:cs typeface="Times New Roman" panose="02020603050405020304" pitchFamily="18" charset="0"/>
              </a:rPr>
              <a:t>Une corrélation positive modérée est également observée entre l'âge de la mère et l'intervalle de naissance (r = 0,47)</a:t>
            </a:r>
            <a:r>
              <a:rPr lang="fr-FR" sz="1600" dirty="0">
                <a:latin typeface="Times New Roman" panose="02020603050405020304" pitchFamily="18" charset="0"/>
                <a:cs typeface="Times New Roman" panose="02020603050405020304" pitchFamily="18" charset="0"/>
              </a:rPr>
              <a:t>, suggérant que les mères plus âgées présentent généralement des intervalles inter génésiques plus longs.</a:t>
            </a:r>
          </a:p>
          <a:p>
            <a:pPr algn="just"/>
            <a:r>
              <a:rPr lang="fr-FR" sz="1600" b="1" dirty="0">
                <a:latin typeface="Times New Roman" panose="02020603050405020304" pitchFamily="18" charset="0"/>
                <a:cs typeface="Times New Roman" panose="02020603050405020304" pitchFamily="18" charset="0"/>
              </a:rPr>
              <a:t>Le rang de naissance et l'intervalle de naissance présentent une corrélation positive faible à modérée (r = 0,34)</a:t>
            </a:r>
            <a:r>
              <a:rPr lang="fr-FR" sz="1600" dirty="0">
                <a:latin typeface="Times New Roman" panose="02020603050405020304" pitchFamily="18" charset="0"/>
                <a:cs typeface="Times New Roman" panose="02020603050405020304" pitchFamily="18" charset="0"/>
              </a:rPr>
              <a:t>, indiquant une légère tendance à l'allongement des intervalles pour les rangs de naissance plus élevés.</a:t>
            </a:r>
          </a:p>
          <a:p>
            <a:pPr algn="just"/>
            <a:r>
              <a:rPr lang="fr-FR" sz="1600" b="1" dirty="0">
                <a:latin typeface="Times New Roman" panose="02020603050405020304" pitchFamily="18" charset="0"/>
                <a:cs typeface="Times New Roman" panose="02020603050405020304" pitchFamily="18" charset="0"/>
              </a:rPr>
              <a:t>L'âge de l'enfant ne présente pratiquement aucune corrélation avec le rang de naissance (r = -0,01) </a:t>
            </a:r>
            <a:r>
              <a:rPr lang="fr-FR" sz="1600" dirty="0">
                <a:latin typeface="Times New Roman" panose="02020603050405020304" pitchFamily="18" charset="0"/>
                <a:cs typeface="Times New Roman" panose="02020603050405020304" pitchFamily="18" charset="0"/>
              </a:rPr>
              <a:t>ni avec l'intervalle de naissance </a:t>
            </a:r>
            <a:r>
              <a:rPr lang="fr-FR" sz="1600" b="1" dirty="0">
                <a:latin typeface="Times New Roman" panose="02020603050405020304" pitchFamily="18" charset="0"/>
                <a:cs typeface="Times New Roman" panose="02020603050405020304" pitchFamily="18" charset="0"/>
              </a:rPr>
              <a:t>(r = -0,03)</a:t>
            </a:r>
          </a:p>
          <a:p>
            <a:pPr algn="just"/>
            <a:r>
              <a:rPr lang="fr-FR" sz="1600" b="1" dirty="0">
                <a:latin typeface="Times New Roman" panose="02020603050405020304" pitchFamily="18" charset="0"/>
                <a:cs typeface="Times New Roman" panose="02020603050405020304" pitchFamily="18" charset="0"/>
              </a:rPr>
              <a:t>Toutes les corrélations observées demeurent inférieures au seuil critique de multi colinéarité généralement admis (|r| ≥ 0,80)</a:t>
            </a:r>
            <a:r>
              <a:rPr lang="fr-FR" sz="1600" dirty="0">
                <a:latin typeface="Times New Roman" panose="02020603050405020304" pitchFamily="18" charset="0"/>
                <a:cs typeface="Times New Roman" panose="02020603050405020304" pitchFamily="18" charset="0"/>
              </a:rPr>
              <a:t>, ce qui suggère l'absence de redondance importante entre les variables quantitatives incluses dans l'analyse.</a:t>
            </a:r>
          </a:p>
          <a:p>
            <a:pPr algn="just"/>
            <a:r>
              <a:rPr lang="fr-FR" sz="1600" b="1" dirty="0">
                <a:latin typeface="Times New Roman" panose="02020603050405020304" pitchFamily="18" charset="0"/>
                <a:cs typeface="Times New Roman" panose="02020603050405020304" pitchFamily="18" charset="0"/>
              </a:rPr>
              <a:t>Les résultats confirment que chaque variable apporte une information complémentaire au modèle</a:t>
            </a:r>
            <a:r>
              <a:rPr lang="fr-FR" sz="1600" dirty="0">
                <a:latin typeface="Times New Roman" panose="02020603050405020304" pitchFamily="18" charset="0"/>
                <a:cs typeface="Times New Roman" panose="02020603050405020304" pitchFamily="18" charset="0"/>
              </a:rPr>
              <a:t>, justifiant leur maintien dans les analyses multivariées ultérieures.</a:t>
            </a:r>
          </a:p>
          <a:p>
            <a:pPr algn="just"/>
            <a:endParaRPr lang="fr-FR" sz="1600" dirty="0">
              <a:latin typeface="Times New Roman" panose="02020603050405020304" pitchFamily="18" charset="0"/>
              <a:cs typeface="Times New Roman" panose="02020603050405020304" pitchFamily="18" charset="0"/>
            </a:endParaRPr>
          </a:p>
        </p:txBody>
      </p:sp>
      <p:sp>
        <p:nvSpPr>
          <p:cNvPr id="5" name="Titre 1">
            <a:extLst>
              <a:ext uri="{FF2B5EF4-FFF2-40B4-BE49-F238E27FC236}">
                <a16:creationId xmlns:a16="http://schemas.microsoft.com/office/drawing/2014/main" id="{FAC039C4-2FEE-0C37-5CF0-8AA7AFE043C4}"/>
              </a:ext>
            </a:extLst>
          </p:cNvPr>
          <p:cNvSpPr txBox="1">
            <a:spLocks/>
          </p:cNvSpPr>
          <p:nvPr/>
        </p:nvSpPr>
        <p:spPr>
          <a:xfrm>
            <a:off x="239591" y="221338"/>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1900" b="1" dirty="0">
                <a:solidFill>
                  <a:schemeClr val="tx1"/>
                </a:solidFill>
                <a:latin typeface="Times New Roman" panose="02020603050405020304" pitchFamily="18" charset="0"/>
                <a:cs typeface="Times New Roman" panose="02020603050405020304" pitchFamily="18" charset="0"/>
              </a:rPr>
              <a:t>Analyse de l’ </a:t>
            </a:r>
            <a:r>
              <a:rPr lang="en-US" sz="1900" b="1" dirty="0" err="1">
                <a:solidFill>
                  <a:schemeClr val="tx1"/>
                </a:solidFill>
                <a:latin typeface="Times New Roman" panose="02020603050405020304" pitchFamily="18" charset="0"/>
                <a:cs typeface="Times New Roman" panose="02020603050405020304" pitchFamily="18" charset="0"/>
              </a:rPr>
              <a:t>associativit</a:t>
            </a:r>
            <a:r>
              <a:rPr lang="fr-FR" sz="1900" b="1" dirty="0">
                <a:solidFill>
                  <a:schemeClr val="tx1"/>
                </a:solidFill>
                <a:latin typeface="Times New Roman" panose="02020603050405020304" pitchFamily="18" charset="0"/>
                <a:cs typeface="Times New Roman" panose="02020603050405020304" pitchFamily="18" charset="0"/>
              </a:rPr>
              <a:t>e</a:t>
            </a:r>
            <a:r>
              <a:rPr lang="en-US" sz="1900" b="1" dirty="0">
                <a:solidFill>
                  <a:schemeClr val="tx1"/>
                </a:solidFill>
                <a:latin typeface="Times New Roman" panose="02020603050405020304" pitchFamily="18" charset="0"/>
                <a:cs typeface="Times New Roman" panose="02020603050405020304" pitchFamily="18" charset="0"/>
              </a:rPr>
              <a:t> des variables </a:t>
            </a:r>
            <a:r>
              <a:rPr lang="en-US" sz="1900" b="1" dirty="0" err="1">
                <a:solidFill>
                  <a:schemeClr val="tx1"/>
                </a:solidFill>
                <a:latin typeface="Times New Roman" panose="02020603050405020304" pitchFamily="18" charset="0"/>
                <a:cs typeface="Times New Roman" panose="02020603050405020304" pitchFamily="18" charset="0"/>
              </a:rPr>
              <a:t>quantitatives</a:t>
            </a:r>
            <a:endParaRPr lang="fr-FR" sz="19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745468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BB1370C6-B0AD-C2A8-FB85-60D003759DFA}"/>
              </a:ext>
            </a:extLst>
          </p:cNvPr>
          <p:cNvSpPr txBox="1">
            <a:spLocks/>
          </p:cNvSpPr>
          <p:nvPr/>
        </p:nvSpPr>
        <p:spPr>
          <a:xfrm>
            <a:off x="217715" y="4408715"/>
            <a:ext cx="9938657"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sz="2000" dirty="0">
                <a:latin typeface="Times New Roman" panose="02020603050405020304" pitchFamily="18" charset="0"/>
                <a:cs typeface="Times New Roman" panose="02020603050405020304" pitchFamily="18" charset="0"/>
              </a:rPr>
              <a:t>Le retard de croissance constitue de loin le prédicteur dominant de la classification finale.</a:t>
            </a:r>
          </a:p>
          <a:p>
            <a:r>
              <a:rPr lang="fr-FR" sz="2000" dirty="0">
                <a:latin typeface="Times New Roman" panose="02020603050405020304" pitchFamily="18" charset="0"/>
                <a:cs typeface="Times New Roman" panose="02020603050405020304" pitchFamily="18" charset="0"/>
              </a:rPr>
              <a:t>Contribution non significative de l’amaigrissement dans le méta-modèle (p = 0.701).</a:t>
            </a:r>
          </a:p>
          <a:p>
            <a:r>
              <a:rPr lang="fr-FR" sz="2000" dirty="0">
                <a:latin typeface="Times New Roman" panose="02020603050405020304" pitchFamily="18" charset="0"/>
                <a:cs typeface="Times New Roman" panose="02020603050405020304" pitchFamily="18" charset="0"/>
              </a:rPr>
              <a:t>Effet modéré de l’insuffisance </a:t>
            </a:r>
            <a:r>
              <a:rPr lang="fr-FR" sz="2000" dirty="0" err="1">
                <a:latin typeface="Times New Roman" panose="02020603050405020304" pitchFamily="18" charset="0"/>
                <a:cs typeface="Times New Roman" panose="02020603050405020304" pitchFamily="18" charset="0"/>
              </a:rPr>
              <a:t>ponderale</a:t>
            </a:r>
            <a:r>
              <a:rPr lang="fr-FR" sz="2000" dirty="0">
                <a:latin typeface="Times New Roman" panose="02020603050405020304" pitchFamily="18" charset="0"/>
                <a:cs typeface="Times New Roman" panose="02020603050405020304" pitchFamily="18" charset="0"/>
              </a:rPr>
              <a:t> mais non significatif au seuil de 5% (p = 0.114)</a:t>
            </a:r>
          </a:p>
          <a:p>
            <a:r>
              <a:rPr lang="fr-FR" sz="2000" dirty="0">
                <a:latin typeface="Times New Roman" panose="02020603050405020304" pitchFamily="18" charset="0"/>
                <a:cs typeface="Times New Roman" panose="02020603050405020304" pitchFamily="18" charset="0"/>
              </a:rPr>
              <a:t>Le méta-modèle de régression logistique identifie principalement la probabilité prédite de retard de croissance comme variable discriminante majeure, tandis que les autres formes de sous-nutrition apportent une information complémentaire plus faible.</a:t>
            </a:r>
          </a:p>
        </p:txBody>
      </p:sp>
      <p:pic>
        <p:nvPicPr>
          <p:cNvPr id="6" name="Image 5">
            <a:extLst>
              <a:ext uri="{FF2B5EF4-FFF2-40B4-BE49-F238E27FC236}">
                <a16:creationId xmlns:a16="http://schemas.microsoft.com/office/drawing/2014/main" id="{D8E52F9E-793C-4C38-722F-BC4E135A6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6069" y="203559"/>
            <a:ext cx="7783548" cy="4205156"/>
          </a:xfrm>
          <a:prstGeom prst="rect">
            <a:avLst/>
          </a:prstGeom>
        </p:spPr>
      </p:pic>
    </p:spTree>
    <p:extLst>
      <p:ext uri="{BB962C8B-B14F-4D97-AF65-F5344CB8AC3E}">
        <p14:creationId xmlns:p14="http://schemas.microsoft.com/office/powerpoint/2010/main" val="30458985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lèche droite à entaille 11"/>
          <p:cNvSpPr/>
          <p:nvPr/>
        </p:nvSpPr>
        <p:spPr>
          <a:xfrm>
            <a:off x="-66466" y="0"/>
            <a:ext cx="2529414" cy="87376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INTRODUCTION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7" name="Flèche droite à entaille 16"/>
          <p:cNvSpPr/>
          <p:nvPr/>
        </p:nvSpPr>
        <p:spPr>
          <a:xfrm>
            <a:off x="4832563" y="-30480"/>
            <a:ext cx="2620428" cy="934720"/>
          </a:xfrm>
          <a:prstGeom prst="notchedRightArrow">
            <a:avLst/>
          </a:prstGeom>
          <a:solidFill>
            <a:srgbClr val="FF0000"/>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SOLUTION AU PROBLEME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8" name="Flèche droite à entaille 17"/>
          <p:cNvSpPr/>
          <p:nvPr/>
        </p:nvSpPr>
        <p:spPr>
          <a:xfrm>
            <a:off x="7227356" y="-72209"/>
            <a:ext cx="2942804"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CONCEPTION ET REALISATION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9" name="Flèche droite à entaille 18"/>
          <p:cNvSpPr/>
          <p:nvPr/>
        </p:nvSpPr>
        <p:spPr>
          <a:xfrm>
            <a:off x="10002520" y="-103778"/>
            <a:ext cx="2291710"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CONCLUSION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0" name="Flèche droite à entaille 19"/>
          <p:cNvSpPr/>
          <p:nvPr/>
        </p:nvSpPr>
        <p:spPr>
          <a:xfrm>
            <a:off x="2283034" y="-72209"/>
            <a:ext cx="2738972" cy="1018178"/>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CONTEXTE ET PROBLEMATIQUE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 name="Espace réservé du contenu 2">
            <a:extLst>
              <a:ext uri="{FF2B5EF4-FFF2-40B4-BE49-F238E27FC236}">
                <a16:creationId xmlns:a16="http://schemas.microsoft.com/office/drawing/2014/main" id="{B278D880-7E58-1D4E-8501-3620EFC4B535}"/>
              </a:ext>
            </a:extLst>
          </p:cNvPr>
          <p:cNvSpPr txBox="1">
            <a:spLocks/>
          </p:cNvSpPr>
          <p:nvPr/>
        </p:nvSpPr>
        <p:spPr>
          <a:xfrm>
            <a:off x="470211" y="2481663"/>
            <a:ext cx="8915400"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fr-FR" dirty="0">
                <a:latin typeface="Times New Roman" panose="02020603050405020304" pitchFamily="18" charset="0"/>
                <a:cs typeface="Times New Roman" panose="02020603050405020304" pitchFamily="18" charset="0"/>
              </a:rPr>
              <a:t>La phase d'entraînement repose sur un protocole rigoureux qui intègre les poids de sondage de l'enquête et la structure des grappes </a:t>
            </a:r>
            <a:r>
              <a:rPr lang="fr-FR" b="1" dirty="0">
                <a:latin typeface="Times New Roman" panose="02020603050405020304" pitchFamily="18" charset="0"/>
                <a:cs typeface="Times New Roman" panose="02020603050405020304" pitchFamily="18" charset="0"/>
              </a:rPr>
              <a:t>v001</a:t>
            </a:r>
            <a:r>
              <a:rPr lang="fr-FR" sz="2000" dirty="0">
                <a:latin typeface="Times New Roman" panose="02020603050405020304" pitchFamily="18" charset="0"/>
                <a:cs typeface="Times New Roman" panose="02020603050405020304" pitchFamily="18" charset="0"/>
              </a:rPr>
              <a:t> de </a:t>
            </a:r>
            <a:r>
              <a:rPr lang="fr-FR" sz="2000" b="1" dirty="0">
                <a:latin typeface="Times New Roman" panose="02020603050405020304" pitchFamily="18" charset="0"/>
                <a:cs typeface="Times New Roman" panose="02020603050405020304" pitchFamily="18" charset="0"/>
              </a:rPr>
              <a:t>l'EDSC-V 2018</a:t>
            </a:r>
            <a:r>
              <a:rPr lang="fr-FR" sz="2000" dirty="0">
                <a:latin typeface="Times New Roman" panose="02020603050405020304" pitchFamily="18" charset="0"/>
                <a:cs typeface="Times New Roman" panose="02020603050405020304" pitchFamily="18" charset="0"/>
              </a:rPr>
              <a:t>. Le volet statistique a été modélisé par une régression logistique via un modèle linéaire généralisé (GLM) pondéré, validé avec succès par le </a:t>
            </a:r>
            <a:r>
              <a:rPr lang="fr-FR" sz="2000" b="1" dirty="0" err="1">
                <a:latin typeface="Times New Roman" panose="02020603050405020304" pitchFamily="18" charset="0"/>
                <a:cs typeface="Times New Roman" panose="02020603050405020304" pitchFamily="18" charset="0"/>
              </a:rPr>
              <a:t>Linktest</a:t>
            </a:r>
            <a:r>
              <a:rPr lang="fr-FR" sz="2000" b="1" dirty="0">
                <a:latin typeface="Times New Roman" panose="02020603050405020304" pitchFamily="18" charset="0"/>
                <a:cs typeface="Times New Roman" panose="02020603050405020304" pitchFamily="18" charset="0"/>
              </a:rPr>
              <a:t> de </a:t>
            </a:r>
            <a:r>
              <a:rPr lang="fr-FR" sz="2000" b="1" dirty="0" err="1">
                <a:latin typeface="Times New Roman" panose="02020603050405020304" pitchFamily="18" charset="0"/>
                <a:cs typeface="Times New Roman" panose="02020603050405020304" pitchFamily="18" charset="0"/>
              </a:rPr>
              <a:t>Pregibon</a:t>
            </a:r>
            <a:r>
              <a:rPr lang="fr-FR" sz="2000" b="1" dirty="0">
                <a:latin typeface="Times New Roman" panose="02020603050405020304" pitchFamily="18" charset="0"/>
                <a:cs typeface="Times New Roman" panose="02020603050405020304" pitchFamily="18" charset="0"/>
              </a:rPr>
              <a:t> (\(p = 0,3387\))</a:t>
            </a:r>
            <a:r>
              <a:rPr lang="fr-FR" sz="2000" dirty="0">
                <a:latin typeface="Times New Roman" panose="02020603050405020304" pitchFamily="18" charset="0"/>
                <a:cs typeface="Times New Roman" panose="02020603050405020304" pitchFamily="18" charset="0"/>
              </a:rPr>
              <a:t>. En parallèle, pour capter les interactions complexes et non linéaires de haute dimensionnalité, nous avons lancé un pipeline de Machine Learning mettant en compétition six algorithmes de pointe : la Régression Logistique (Ridge), la Forêt Aléatoire (Random Forest), l'</a:t>
            </a:r>
            <a:r>
              <a:rPr lang="fr-FR" sz="2000" dirty="0" err="1">
                <a:latin typeface="Times New Roman" panose="02020603050405020304" pitchFamily="18" charset="0"/>
                <a:cs typeface="Times New Roman" panose="02020603050405020304" pitchFamily="18" charset="0"/>
              </a:rPr>
              <a:t>XGBoost</a:t>
            </a:r>
            <a:r>
              <a:rPr lang="fr-FR" sz="2000" dirty="0">
                <a:latin typeface="Times New Roman" panose="02020603050405020304" pitchFamily="18" charset="0"/>
                <a:cs typeface="Times New Roman" panose="02020603050405020304" pitchFamily="18" charset="0"/>
              </a:rPr>
              <a:t> Classifier, le </a:t>
            </a:r>
            <a:r>
              <a:rPr lang="fr-FR" sz="2000" dirty="0" err="1">
                <a:latin typeface="Times New Roman" panose="02020603050405020304" pitchFamily="18" charset="0"/>
                <a:cs typeface="Times New Roman" panose="02020603050405020304" pitchFamily="18" charset="0"/>
              </a:rPr>
              <a:t>LightGBM</a:t>
            </a:r>
            <a:r>
              <a:rPr lang="fr-FR" sz="2000" dirty="0">
                <a:latin typeface="Times New Roman" panose="02020603050405020304" pitchFamily="18" charset="0"/>
                <a:cs typeface="Times New Roman" panose="02020603050405020304" pitchFamily="18" charset="0"/>
              </a:rPr>
              <a:t> Classifier, le </a:t>
            </a:r>
            <a:r>
              <a:rPr lang="fr-FR" sz="2000" dirty="0" err="1">
                <a:latin typeface="Times New Roman" panose="02020603050405020304" pitchFamily="18" charset="0"/>
                <a:cs typeface="Times New Roman" panose="02020603050405020304" pitchFamily="18" charset="0"/>
              </a:rPr>
              <a:t>CatBoost</a:t>
            </a:r>
            <a:r>
              <a:rPr lang="fr-FR" sz="2000" dirty="0">
                <a:latin typeface="Times New Roman" panose="02020603050405020304" pitchFamily="18" charset="0"/>
                <a:cs typeface="Times New Roman" panose="02020603050405020304" pitchFamily="18" charset="0"/>
              </a:rPr>
              <a:t> Classifier et un Réseau de Neurones artificiels (MLP). Pour éliminer tout risque de surapprentissage géographique et garantir une capacité de généralisation maximale, l'apprentissage a été sécurisé par un partitionnement étanche des clusters via un découpage </a:t>
            </a:r>
            <a:r>
              <a:rPr lang="fr-FR" b="1" i="1" dirty="0" err="1">
                <a:latin typeface="Times New Roman" panose="02020603050405020304" pitchFamily="18" charset="0"/>
                <a:cs typeface="Times New Roman" panose="02020603050405020304" pitchFamily="18" charset="0"/>
              </a:rPr>
              <a:t>GroupShuffleSplit</a:t>
            </a:r>
            <a:r>
              <a:rPr lang="fr-FR" sz="2000" b="1" dirty="0">
                <a:latin typeface="Times New Roman" panose="02020603050405020304" pitchFamily="18" charset="0"/>
                <a:cs typeface="Times New Roman" panose="02020603050405020304" pitchFamily="18" charset="0"/>
              </a:rPr>
              <a:t> (80% Train / 20% Test) </a:t>
            </a:r>
            <a:r>
              <a:rPr lang="fr-FR" sz="2000" dirty="0">
                <a:latin typeface="Times New Roman" panose="02020603050405020304" pitchFamily="18" charset="0"/>
                <a:cs typeface="Times New Roman" panose="02020603050405020304" pitchFamily="18" charset="0"/>
              </a:rPr>
              <a:t>et une validation croisée de type </a:t>
            </a:r>
            <a:r>
              <a:rPr lang="fr-FR" b="1" i="1" dirty="0" err="1">
                <a:latin typeface="Times New Roman" panose="02020603050405020304" pitchFamily="18" charset="0"/>
                <a:cs typeface="Times New Roman" panose="02020603050405020304" pitchFamily="18" charset="0"/>
              </a:rPr>
              <a:t>GroupKFold</a:t>
            </a:r>
            <a:r>
              <a:rPr lang="fr-FR" sz="2000" dirty="0">
                <a:latin typeface="Times New Roman" panose="02020603050405020304" pitchFamily="18" charset="0"/>
                <a:cs typeface="Times New Roman" panose="02020603050405020304" pitchFamily="18" charset="0"/>
              </a:rPr>
              <a:t> basée sur l'identifiant unique de grappe DHS </a:t>
            </a:r>
            <a:r>
              <a:rPr lang="fr-FR" dirty="0">
                <a:latin typeface="Times New Roman" panose="02020603050405020304" pitchFamily="18" charset="0"/>
                <a:cs typeface="Times New Roman" panose="02020603050405020304" pitchFamily="18" charset="0"/>
              </a:rPr>
              <a:t>v001</a:t>
            </a:r>
            <a:r>
              <a:rPr lang="fr-FR" sz="2000" dirty="0">
                <a:latin typeface="Times New Roman" panose="02020603050405020304" pitchFamily="18" charset="0"/>
                <a:cs typeface="Times New Roman" panose="02020603050405020304" pitchFamily="18" charset="0"/>
              </a:rPr>
              <a:t>.</a:t>
            </a:r>
          </a:p>
        </p:txBody>
      </p:sp>
      <p:sp>
        <p:nvSpPr>
          <p:cNvPr id="3" name="Titre 1">
            <a:extLst>
              <a:ext uri="{FF2B5EF4-FFF2-40B4-BE49-F238E27FC236}">
                <a16:creationId xmlns:a16="http://schemas.microsoft.com/office/drawing/2014/main" id="{5357E5B8-0DC7-8E58-D7C3-27911C53A46C}"/>
              </a:ext>
            </a:extLst>
          </p:cNvPr>
          <p:cNvSpPr txBox="1">
            <a:spLocks/>
          </p:cNvSpPr>
          <p:nvPr/>
        </p:nvSpPr>
        <p:spPr>
          <a:xfrm>
            <a:off x="470211" y="1414497"/>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err="1">
                <a:solidFill>
                  <a:schemeClr val="tx1"/>
                </a:solidFill>
                <a:latin typeface="Times New Roman" panose="02020603050405020304" pitchFamily="18" charset="0"/>
                <a:cs typeface="Times New Roman" panose="02020603050405020304" pitchFamily="18" charset="0"/>
              </a:rPr>
              <a:t>Entrainement</a:t>
            </a:r>
            <a:r>
              <a:rPr lang="en-US" sz="3200" b="1" dirty="0">
                <a:solidFill>
                  <a:schemeClr val="tx1"/>
                </a:solidFill>
                <a:latin typeface="Times New Roman" panose="02020603050405020304" pitchFamily="18" charset="0"/>
                <a:cs typeface="Times New Roman" panose="02020603050405020304" pitchFamily="18" charset="0"/>
              </a:rPr>
              <a:t> du </a:t>
            </a:r>
            <a:r>
              <a:rPr lang="en-US" sz="3200" b="1" dirty="0" err="1">
                <a:solidFill>
                  <a:schemeClr val="tx1"/>
                </a:solidFill>
                <a:latin typeface="Times New Roman" panose="02020603050405020304" pitchFamily="18" charset="0"/>
                <a:cs typeface="Times New Roman" panose="02020603050405020304" pitchFamily="18" charset="0"/>
              </a:rPr>
              <a:t>modele</a:t>
            </a:r>
            <a:r>
              <a:rPr lang="en-US" sz="3200" b="1" dirty="0">
                <a:solidFill>
                  <a:schemeClr val="tx1"/>
                </a:solidFill>
                <a:latin typeface="Times New Roman" panose="02020603050405020304" pitchFamily="18" charset="0"/>
                <a:cs typeface="Times New Roman" panose="02020603050405020304" pitchFamily="18" charset="0"/>
              </a:rPr>
              <a:t> </a:t>
            </a:r>
            <a:r>
              <a:rPr lang="en-US" sz="3200" b="1" dirty="0" err="1">
                <a:solidFill>
                  <a:schemeClr val="tx1"/>
                </a:solidFill>
                <a:latin typeface="Times New Roman" panose="02020603050405020304" pitchFamily="18" charset="0"/>
                <a:cs typeface="Times New Roman" panose="02020603050405020304" pitchFamily="18" charset="0"/>
              </a:rPr>
              <a:t>pondere</a:t>
            </a:r>
            <a:r>
              <a:rPr lang="en-US" sz="3200" b="1" dirty="0">
                <a:solidFill>
                  <a:schemeClr val="tx1"/>
                </a:solidFill>
                <a:latin typeface="Times New Roman" panose="02020603050405020304" pitchFamily="18" charset="0"/>
                <a:cs typeface="Times New Roman" panose="02020603050405020304" pitchFamily="18" charset="0"/>
              </a:rPr>
              <a:t> de Machine Learning avec </a:t>
            </a:r>
            <a:r>
              <a:rPr lang="en-US" sz="3200" b="1" dirty="0" err="1">
                <a:solidFill>
                  <a:schemeClr val="tx1"/>
                </a:solidFill>
                <a:latin typeface="Times New Roman" panose="02020603050405020304" pitchFamily="18" charset="0"/>
                <a:cs typeface="Times New Roman" panose="02020603050405020304" pitchFamily="18" charset="0"/>
              </a:rPr>
              <a:t>CatBooost</a:t>
            </a:r>
            <a:endParaRPr lang="fr-FR" sz="3200" b="1" dirty="0">
              <a:solidFill>
                <a:schemeClr val="tx1"/>
              </a:solidFill>
              <a:latin typeface="Times New Roman" panose="02020603050405020304" pitchFamily="18" charset="0"/>
              <a:cs typeface="Times New Roman" panose="02020603050405020304" pitchFamily="18" charset="0"/>
            </a:endParaRPr>
          </a:p>
        </p:txBody>
      </p:sp>
      <p:pic>
        <p:nvPicPr>
          <p:cNvPr id="4" name="Image 10">
            <a:extLst>
              <a:ext uri="{FF2B5EF4-FFF2-40B4-BE49-F238E27FC236}">
                <a16:creationId xmlns:a16="http://schemas.microsoft.com/office/drawing/2014/main" id="{EC65C488-A67D-3DCE-54DF-52ED66E1C8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96371" y="1661015"/>
            <a:ext cx="2010206" cy="787854"/>
          </a:xfrm>
          <a:prstGeom prst="rect">
            <a:avLst/>
          </a:prstGeom>
        </p:spPr>
      </p:pic>
    </p:spTree>
    <p:extLst>
      <p:ext uri="{BB962C8B-B14F-4D97-AF65-F5344CB8AC3E}">
        <p14:creationId xmlns:p14="http://schemas.microsoft.com/office/powerpoint/2010/main" val="34563710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286FF90-23D2-B855-925B-5276094063E3}"/>
              </a:ext>
            </a:extLst>
          </p:cNvPr>
          <p:cNvSpPr txBox="1">
            <a:spLocks/>
          </p:cNvSpPr>
          <p:nvPr/>
        </p:nvSpPr>
        <p:spPr>
          <a:xfrm>
            <a:off x="0" y="922745"/>
            <a:ext cx="6281665"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fr-FR" b="1" dirty="0">
                <a:latin typeface="Times New Roman" panose="02020603050405020304" pitchFamily="18" charset="0"/>
                <a:cs typeface="Times New Roman" panose="02020603050405020304" pitchFamily="18" charset="0"/>
              </a:rPr>
              <a:t>Gestion native des variables de l'EDS</a:t>
            </a:r>
            <a:r>
              <a:rPr lang="fr-FR" dirty="0">
                <a:latin typeface="Times New Roman" panose="02020603050405020304" pitchFamily="18" charset="0"/>
                <a:cs typeface="Times New Roman" panose="02020603050405020304" pitchFamily="18" charset="0"/>
              </a:rPr>
              <a:t> : Il traite automatiquement les variables catégorielles complexes (comme la région ou le type d'eau) sans avoir besoin d'un encodage manuel qui détruit l'information.</a:t>
            </a:r>
          </a:p>
          <a:p>
            <a:pPr algn="just"/>
            <a:r>
              <a:rPr lang="fr-FR" b="1" dirty="0">
                <a:latin typeface="Times New Roman" panose="02020603050405020304" pitchFamily="18" charset="0"/>
                <a:cs typeface="Times New Roman" panose="02020603050405020304" pitchFamily="18" charset="0"/>
              </a:rPr>
              <a:t>Résistance absolue au surapprentissage</a:t>
            </a:r>
            <a:r>
              <a:rPr lang="fr-FR" dirty="0">
                <a:latin typeface="Times New Roman" panose="02020603050405020304" pitchFamily="18" charset="0"/>
                <a:cs typeface="Times New Roman" panose="02020603050405020304" pitchFamily="18" charset="0"/>
              </a:rPr>
              <a:t> : Grâce à son architecture unique d'arbres symétriques, il évite la mémorisation par cœur des données. C'est ce qui explique son écart Train/Test presque nul (</a:t>
            </a:r>
            <a:r>
              <a:rPr lang="fr-FR" b="1" dirty="0">
                <a:latin typeface="Times New Roman" panose="02020603050405020304" pitchFamily="18" charset="0"/>
                <a:cs typeface="Times New Roman" panose="02020603050405020304" pitchFamily="18" charset="0"/>
              </a:rPr>
              <a:t>0,0049</a:t>
            </a:r>
            <a:r>
              <a:rPr lang="fr-FR" dirty="0">
                <a:latin typeface="Times New Roman" panose="02020603050405020304" pitchFamily="18" charset="0"/>
                <a:cs typeface="Times New Roman" panose="02020603050405020304" pitchFamily="18" charset="0"/>
              </a:rPr>
              <a:t>).</a:t>
            </a:r>
          </a:p>
          <a:p>
            <a:pPr algn="just"/>
            <a:r>
              <a:rPr lang="fr-FR" b="1" dirty="0">
                <a:latin typeface="Times New Roman" panose="02020603050405020304" pitchFamily="18" charset="0"/>
                <a:cs typeface="Times New Roman" panose="02020603050405020304" pitchFamily="18" charset="0"/>
              </a:rPr>
              <a:t>Stabilité face aux effets de grappe</a:t>
            </a:r>
            <a:r>
              <a:rPr lang="fr-FR" dirty="0">
                <a:latin typeface="Times New Roman" panose="02020603050405020304" pitchFamily="18" charset="0"/>
                <a:cs typeface="Times New Roman" panose="02020603050405020304" pitchFamily="18" charset="0"/>
              </a:rPr>
              <a:t> : Son algorithme de </a:t>
            </a:r>
            <a:r>
              <a:rPr lang="fr-FR" dirty="0" err="1">
                <a:latin typeface="Times New Roman" panose="02020603050405020304" pitchFamily="18" charset="0"/>
                <a:cs typeface="Times New Roman" panose="02020603050405020304" pitchFamily="18" charset="0"/>
              </a:rPr>
              <a:t>boosting</a:t>
            </a:r>
            <a:r>
              <a:rPr lang="fr-FR" dirty="0">
                <a:latin typeface="Times New Roman" panose="02020603050405020304" pitchFamily="18" charset="0"/>
                <a:cs typeface="Times New Roman" panose="02020603050405020304" pitchFamily="18" charset="0"/>
              </a:rPr>
              <a:t> par permutations empêche le modèle d'être biaisé par des ressemblances locales au sein d'un même village (</a:t>
            </a:r>
            <a:r>
              <a:rPr lang="fr-FR" b="1" dirty="0">
                <a:latin typeface="Times New Roman" panose="02020603050405020304" pitchFamily="18" charset="0"/>
                <a:cs typeface="Times New Roman" panose="02020603050405020304" pitchFamily="18" charset="0"/>
              </a:rPr>
              <a:t>v001</a:t>
            </a:r>
            <a:r>
              <a:rPr lang="fr-FR" dirty="0">
                <a:latin typeface="Times New Roman" panose="02020603050405020304" pitchFamily="18" charset="0"/>
                <a:cs typeface="Times New Roman" panose="02020603050405020304" pitchFamily="18" charset="0"/>
              </a:rPr>
              <a:t>) .</a:t>
            </a:r>
          </a:p>
          <a:p>
            <a:pPr algn="just"/>
            <a:r>
              <a:rPr lang="fr-FR" b="1" dirty="0">
                <a:latin typeface="Times New Roman" panose="02020603050405020304" pitchFamily="18" charset="0"/>
                <a:cs typeface="Times New Roman" panose="02020603050405020304" pitchFamily="18" charset="0"/>
              </a:rPr>
              <a:t>Performance maximale en conditions réelles</a:t>
            </a:r>
            <a:r>
              <a:rPr lang="fr-FR" dirty="0">
                <a:latin typeface="Times New Roman" panose="02020603050405020304" pitchFamily="18" charset="0"/>
                <a:cs typeface="Times New Roman" panose="02020603050405020304" pitchFamily="18" charset="0"/>
              </a:rPr>
              <a:t> : Il obtient la meilleure capacité de généralisation nationale (</a:t>
            </a:r>
            <a:r>
              <a:rPr lang="fr-FR" b="1" dirty="0">
                <a:latin typeface="Times New Roman" panose="02020603050405020304" pitchFamily="18" charset="0"/>
                <a:cs typeface="Times New Roman" panose="02020603050405020304" pitchFamily="18" charset="0"/>
              </a:rPr>
              <a:t>ROC AUC de 0,7278</a:t>
            </a:r>
            <a:r>
              <a:rPr lang="fr-FR" dirty="0">
                <a:latin typeface="Times New Roman" panose="02020603050405020304" pitchFamily="18" charset="0"/>
                <a:cs typeface="Times New Roman" panose="02020603050405020304" pitchFamily="18" charset="0"/>
              </a:rPr>
              <a:t>) lors du test de résistance (</a:t>
            </a:r>
            <a:r>
              <a:rPr lang="fr-FR" i="1" dirty="0">
                <a:latin typeface="Times New Roman" panose="02020603050405020304" pitchFamily="18" charset="0"/>
                <a:cs typeface="Times New Roman" panose="02020603050405020304" pitchFamily="18" charset="0"/>
              </a:rPr>
              <a:t>Stress Test</a:t>
            </a:r>
            <a:r>
              <a:rPr lang="fr-FR" dirty="0">
                <a:latin typeface="Times New Roman" panose="02020603050405020304" pitchFamily="18" charset="0"/>
                <a:cs typeface="Times New Roman" panose="02020603050405020304" pitchFamily="18" charset="0"/>
              </a:rPr>
              <a:t>) sur des communautés totalement inconnues.</a:t>
            </a:r>
          </a:p>
          <a:p>
            <a:pPr algn="just"/>
            <a:r>
              <a:rPr lang="fr-FR" b="1" dirty="0">
                <a:latin typeface="Times New Roman" panose="02020603050405020304" pitchFamily="18" charset="0"/>
                <a:cs typeface="Times New Roman" panose="02020603050405020304" pitchFamily="18" charset="0"/>
              </a:rPr>
              <a:t>Précision des probabilités de risque</a:t>
            </a:r>
            <a:r>
              <a:rPr lang="fr-FR" dirty="0">
                <a:latin typeface="Times New Roman" panose="02020603050405020304" pitchFamily="18" charset="0"/>
                <a:cs typeface="Times New Roman" panose="02020603050405020304" pitchFamily="18" charset="0"/>
              </a:rPr>
              <a:t> : Il minimise l'erreur globale de prédiction (</a:t>
            </a:r>
            <a:r>
              <a:rPr lang="fr-FR" b="1" dirty="0">
                <a:latin typeface="Times New Roman" panose="02020603050405020304" pitchFamily="18" charset="0"/>
                <a:cs typeface="Times New Roman" panose="02020603050405020304" pitchFamily="18" charset="0"/>
              </a:rPr>
              <a:t>Log-Loss de 0,5856</a:t>
            </a:r>
            <a:r>
              <a:rPr lang="fr-FR" dirty="0">
                <a:latin typeface="Times New Roman" panose="02020603050405020304" pitchFamily="18" charset="0"/>
                <a:cs typeface="Times New Roman" panose="02020603050405020304" pitchFamily="18" charset="0"/>
              </a:rPr>
              <a:t>), fournissant ainsi des scores de risques très fiables pour le calcul des sous-classes cliniques de l'OMS.</a:t>
            </a:r>
          </a:p>
        </p:txBody>
      </p:sp>
      <p:sp>
        <p:nvSpPr>
          <p:cNvPr id="4" name="Titre 1">
            <a:extLst>
              <a:ext uri="{FF2B5EF4-FFF2-40B4-BE49-F238E27FC236}">
                <a16:creationId xmlns:a16="http://schemas.microsoft.com/office/drawing/2014/main" id="{976E311B-375E-4123-73E5-F83E9355568B}"/>
              </a:ext>
            </a:extLst>
          </p:cNvPr>
          <p:cNvSpPr txBox="1">
            <a:spLocks/>
          </p:cNvSpPr>
          <p:nvPr/>
        </p:nvSpPr>
        <p:spPr>
          <a:xfrm>
            <a:off x="0" y="282300"/>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2400" b="1" dirty="0">
                <a:solidFill>
                  <a:schemeClr val="tx1"/>
                </a:solidFill>
                <a:latin typeface="Times New Roman" panose="02020603050405020304" pitchFamily="18" charset="0"/>
                <a:cs typeface="Times New Roman" panose="02020603050405020304" pitchFamily="18" charset="0"/>
              </a:rPr>
              <a:t>Pourquoi avoir choisi le </a:t>
            </a:r>
            <a:r>
              <a:rPr lang="fr-FR" sz="2400" b="1" dirty="0" err="1">
                <a:solidFill>
                  <a:schemeClr val="tx1"/>
                </a:solidFill>
                <a:latin typeface="Times New Roman" panose="02020603050405020304" pitchFamily="18" charset="0"/>
                <a:cs typeface="Times New Roman" panose="02020603050405020304" pitchFamily="18" charset="0"/>
              </a:rPr>
              <a:t>Stacking</a:t>
            </a:r>
            <a:r>
              <a:rPr lang="fr-FR" sz="2400" b="1" dirty="0">
                <a:solidFill>
                  <a:schemeClr val="tx1"/>
                </a:solidFill>
                <a:latin typeface="Times New Roman" panose="02020603050405020304" pitchFamily="18" charset="0"/>
                <a:cs typeface="Times New Roman" panose="02020603050405020304" pitchFamily="18" charset="0"/>
              </a:rPr>
              <a:t> Classifier ?</a:t>
            </a:r>
            <a:endParaRPr lang="fr-FR" sz="2200" b="1" dirty="0">
              <a:solidFill>
                <a:schemeClr val="tx1"/>
              </a:solidFill>
              <a:latin typeface="Times New Roman" panose="02020603050405020304" pitchFamily="18" charset="0"/>
              <a:cs typeface="Times New Roman" panose="02020603050405020304" pitchFamily="18" charset="0"/>
            </a:endParaRPr>
          </a:p>
        </p:txBody>
      </p:sp>
      <p:pic>
        <p:nvPicPr>
          <p:cNvPr id="1028" name="Picture 4" descr="CatBoost regression (CBR) architecture | Download Scientific Diagram">
            <a:extLst>
              <a:ext uri="{FF2B5EF4-FFF2-40B4-BE49-F238E27FC236}">
                <a16:creationId xmlns:a16="http://schemas.microsoft.com/office/drawing/2014/main" id="{3A3F5B02-1A69-2447-B966-D16EE0E749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1664" y="0"/>
            <a:ext cx="591033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7344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2">
            <a:extLst>
              <a:ext uri="{FF2B5EF4-FFF2-40B4-BE49-F238E27FC236}">
                <a16:creationId xmlns:a16="http://schemas.microsoft.com/office/drawing/2014/main" id="{BA5C3780-242E-C92A-035D-DE446D8FB167}"/>
              </a:ext>
            </a:extLst>
          </p:cNvPr>
          <p:cNvSpPr txBox="1">
            <a:spLocks/>
          </p:cNvSpPr>
          <p:nvPr/>
        </p:nvSpPr>
        <p:spPr>
          <a:xfrm>
            <a:off x="348344" y="1921189"/>
            <a:ext cx="8980714"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fr-FR" dirty="0">
                <a:latin typeface="Times New Roman" panose="02020603050405020304" pitchFamily="18" charset="0"/>
                <a:cs typeface="Times New Roman" panose="02020603050405020304" pitchFamily="18" charset="0"/>
              </a:rPr>
              <a:t>L'analyse comparative des clairs, dictés par la structure complexe des données de l'EDSC-V 2018. Le </a:t>
            </a:r>
            <a:r>
              <a:rPr lang="fr-FR" b="1" dirty="0" err="1">
                <a:latin typeface="Times New Roman" panose="02020603050405020304" pitchFamily="18" charset="0"/>
                <a:cs typeface="Times New Roman" panose="02020603050405020304" pitchFamily="18" charset="0"/>
              </a:rPr>
              <a:t>CatBoost</a:t>
            </a:r>
            <a:r>
              <a:rPr lang="fr-FR" b="1" dirty="0">
                <a:latin typeface="Times New Roman" panose="02020603050405020304" pitchFamily="18" charset="0"/>
                <a:cs typeface="Times New Roman" panose="02020603050405020304" pitchFamily="18" charset="0"/>
              </a:rPr>
              <a:t> Classifier</a:t>
            </a:r>
            <a:r>
              <a:rPr lang="fr-FR" dirty="0">
                <a:latin typeface="Times New Roman" panose="02020603050405020304" pitchFamily="18" charset="0"/>
                <a:cs typeface="Times New Roman" panose="02020603050405020304" pitchFamily="18" charset="0"/>
              </a:rPr>
              <a:t> s'impose comme le champion légitime de l'étude avec un score </a:t>
            </a:r>
            <a:r>
              <a:rPr lang="fr-FR" b="1" dirty="0">
                <a:latin typeface="Times New Roman" panose="02020603050405020304" pitchFamily="18" charset="0"/>
                <a:cs typeface="Times New Roman" panose="02020603050405020304" pitchFamily="18" charset="0"/>
              </a:rPr>
              <a:t>ROC AUC de 0,7442</a:t>
            </a:r>
            <a:r>
              <a:rPr lang="fr-FR" dirty="0">
                <a:latin typeface="Times New Roman" panose="02020603050405020304" pitchFamily="18" charset="0"/>
                <a:cs typeface="Times New Roman" panose="02020603050405020304" pitchFamily="18" charset="0"/>
              </a:rPr>
              <a:t> [2] et une stabilité mathématique absolue, illustrée par un </a:t>
            </a:r>
            <a:r>
              <a:rPr lang="fr-FR" b="1" dirty="0">
                <a:latin typeface="Times New Roman" panose="02020603050405020304" pitchFamily="18" charset="0"/>
                <a:cs typeface="Times New Roman" panose="02020603050405020304" pitchFamily="18" charset="0"/>
              </a:rPr>
              <a:t>Delta AUC de seulement 0,0049</a:t>
            </a:r>
            <a:r>
              <a:rPr lang="fr-FR" dirty="0">
                <a:latin typeface="Times New Roman" panose="02020603050405020304" pitchFamily="18" charset="0"/>
                <a:cs typeface="Times New Roman" panose="02020603050405020304" pitchFamily="18" charset="0"/>
              </a:rPr>
              <a:t>. Ses arbres symétriques neutralisent le bruit des données tabulaires là où les deux autres modèles de </a:t>
            </a:r>
            <a:r>
              <a:rPr lang="fr-FR" dirty="0" err="1">
                <a:latin typeface="Times New Roman" panose="02020603050405020304" pitchFamily="18" charset="0"/>
                <a:cs typeface="Times New Roman" panose="02020603050405020304" pitchFamily="18" charset="0"/>
              </a:rPr>
              <a:t>boosting</a:t>
            </a:r>
            <a:r>
              <a:rPr lang="fr-FR" dirty="0">
                <a:latin typeface="Times New Roman" panose="02020603050405020304" pitchFamily="18" charset="0"/>
                <a:cs typeface="Times New Roman" panose="02020603050405020304" pitchFamily="18" charset="0"/>
              </a:rPr>
              <a:t>, </a:t>
            </a:r>
            <a:r>
              <a:rPr lang="fr-FR" b="1" dirty="0" err="1">
                <a:latin typeface="Times New Roman" panose="02020603050405020304" pitchFamily="18" charset="0"/>
                <a:cs typeface="Times New Roman" panose="02020603050405020304" pitchFamily="18" charset="0"/>
              </a:rPr>
              <a:t>XGBoost</a:t>
            </a:r>
            <a:r>
              <a:rPr lang="fr-FR" b="1" dirty="0">
                <a:latin typeface="Times New Roman" panose="02020603050405020304" pitchFamily="18" charset="0"/>
                <a:cs typeface="Times New Roman" panose="02020603050405020304" pitchFamily="18" charset="0"/>
              </a:rPr>
              <a:t> (0,7392)</a:t>
            </a:r>
            <a:r>
              <a:rPr lang="fr-FR" dirty="0">
                <a:latin typeface="Times New Roman" panose="02020603050405020304" pitchFamily="18" charset="0"/>
                <a:cs typeface="Times New Roman" panose="02020603050405020304" pitchFamily="18" charset="0"/>
              </a:rPr>
              <a:t> [2] et </a:t>
            </a:r>
            <a:r>
              <a:rPr lang="fr-FR" b="1" dirty="0" err="1">
                <a:latin typeface="Times New Roman" panose="02020603050405020304" pitchFamily="18" charset="0"/>
                <a:cs typeface="Times New Roman" panose="02020603050405020304" pitchFamily="18" charset="0"/>
              </a:rPr>
              <a:t>LightGBM</a:t>
            </a:r>
            <a:r>
              <a:rPr lang="fr-FR" b="1" dirty="0">
                <a:latin typeface="Times New Roman" panose="02020603050405020304" pitchFamily="18" charset="0"/>
                <a:cs typeface="Times New Roman" panose="02020603050405020304" pitchFamily="18" charset="0"/>
              </a:rPr>
              <a:t> (0,7378)</a:t>
            </a:r>
            <a:r>
              <a:rPr lang="fr-FR" dirty="0">
                <a:latin typeface="Times New Roman" panose="02020603050405020304" pitchFamily="18" charset="0"/>
                <a:cs typeface="Times New Roman" panose="02020603050405020304" pitchFamily="18" charset="0"/>
              </a:rPr>
              <a:t>, amorcent un surapprentissage avec un écart Train/Test dix fois supérieur (\(\Delta &gt; 0,05\)). De son côté, l'algorithme de </a:t>
            </a:r>
            <a:r>
              <a:rPr lang="fr-FR" b="1" dirty="0">
                <a:latin typeface="Times New Roman" panose="02020603050405020304" pitchFamily="18" charset="0"/>
                <a:cs typeface="Times New Roman" panose="02020603050405020304" pitchFamily="18" charset="0"/>
              </a:rPr>
              <a:t>Random Forest (0,7313)</a:t>
            </a:r>
            <a:r>
              <a:rPr lang="fr-FR" dirty="0">
                <a:latin typeface="Times New Roman" panose="02020603050405020304" pitchFamily="18" charset="0"/>
                <a:cs typeface="Times New Roman" panose="02020603050405020304" pitchFamily="18" charset="0"/>
              </a:rPr>
              <a:t> [2] confirme sa robustesse historique par bagging, mais sa méthode de lissage par vote majoritaire l'empêche de capturer les signaux les plus fins. Enfin, les structures rigides ferment la marche : la </a:t>
            </a:r>
            <a:r>
              <a:rPr lang="fr-FR" b="1" dirty="0">
                <a:latin typeface="Times New Roman" panose="02020603050405020304" pitchFamily="18" charset="0"/>
                <a:cs typeface="Times New Roman" panose="02020603050405020304" pitchFamily="18" charset="0"/>
              </a:rPr>
              <a:t>Régression Logistique (0,7017)</a:t>
            </a:r>
            <a:r>
              <a:rPr lang="fr-FR" dirty="0">
                <a:latin typeface="Times New Roman" panose="02020603050405020304" pitchFamily="18" charset="0"/>
                <a:cs typeface="Times New Roman" panose="02020603050405020304" pitchFamily="18" charset="0"/>
              </a:rPr>
              <a:t> [2] sous-apprend en échouant à modéliser les interactions non linéaires de haute dimensionnalité, tandis que le </a:t>
            </a:r>
            <a:r>
              <a:rPr lang="fr-FR" b="1" dirty="0">
                <a:latin typeface="Times New Roman" panose="02020603050405020304" pitchFamily="18" charset="0"/>
                <a:cs typeface="Times New Roman" panose="02020603050405020304" pitchFamily="18" charset="0"/>
              </a:rPr>
              <a:t>Réseau de Neurones MLP (0,5399)</a:t>
            </a:r>
            <a:r>
              <a:rPr lang="fr-FR" dirty="0">
                <a:latin typeface="Times New Roman" panose="02020603050405020304" pitchFamily="18" charset="0"/>
                <a:cs typeface="Times New Roman" panose="02020603050405020304" pitchFamily="18" charset="0"/>
              </a:rPr>
              <a:t> [2] s'effondre totalement, prouvant l'inadaptation des architectures denses classiques face à l'hétérogénéité des données d'enquêtes démographiques fragmentées. six modèles en compétition révèle des comportements algorithmiques </a:t>
            </a:r>
          </a:p>
        </p:txBody>
      </p:sp>
      <p:sp>
        <p:nvSpPr>
          <p:cNvPr id="3" name="Titre 1">
            <a:extLst>
              <a:ext uri="{FF2B5EF4-FFF2-40B4-BE49-F238E27FC236}">
                <a16:creationId xmlns:a16="http://schemas.microsoft.com/office/drawing/2014/main" id="{C1EA85C1-18FC-B7FA-D564-EF96B183660E}"/>
              </a:ext>
            </a:extLst>
          </p:cNvPr>
          <p:cNvSpPr txBox="1">
            <a:spLocks/>
          </p:cNvSpPr>
          <p:nvPr/>
        </p:nvSpPr>
        <p:spPr>
          <a:xfrm>
            <a:off x="348344" y="838962"/>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fr-FR" sz="3200" b="1" dirty="0">
                <a:solidFill>
                  <a:schemeClr val="tx1"/>
                </a:solidFill>
                <a:latin typeface="Times New Roman" panose="02020603050405020304" pitchFamily="18" charset="0"/>
                <a:cs typeface="Times New Roman" panose="02020603050405020304" pitchFamily="18" charset="0"/>
              </a:rPr>
              <a:t>Évaluation </a:t>
            </a:r>
            <a:r>
              <a:rPr lang="fr-FR" sz="2400" b="1" dirty="0">
                <a:solidFill>
                  <a:schemeClr val="tx1"/>
                </a:solidFill>
                <a:latin typeface="Times New Roman" panose="02020603050405020304" pitchFamily="18" charset="0"/>
                <a:cs typeface="Times New Roman" panose="02020603050405020304" pitchFamily="18" charset="0"/>
              </a:rPr>
              <a:t>Comparative</a:t>
            </a:r>
            <a:r>
              <a:rPr lang="fr-FR" sz="3200" b="1" dirty="0">
                <a:solidFill>
                  <a:schemeClr val="tx1"/>
                </a:solidFill>
                <a:latin typeface="Times New Roman" panose="02020603050405020304" pitchFamily="18" charset="0"/>
                <a:cs typeface="Times New Roman" panose="02020603050405020304" pitchFamily="18" charset="0"/>
              </a:rPr>
              <a:t> des Six Architectures ML : Arbitrage Performance-Stabilité</a:t>
            </a:r>
          </a:p>
        </p:txBody>
      </p:sp>
    </p:spTree>
    <p:extLst>
      <p:ext uri="{BB962C8B-B14F-4D97-AF65-F5344CB8AC3E}">
        <p14:creationId xmlns:p14="http://schemas.microsoft.com/office/powerpoint/2010/main" val="340976573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03E9A-18F9-6C21-F6B9-F7AA8934AFE1}"/>
            </a:ext>
          </a:extLst>
        </p:cNvPr>
        <p:cNvGrpSpPr/>
        <p:nvPr/>
      </p:nvGrpSpPr>
      <p:grpSpPr>
        <a:xfrm>
          <a:off x="0" y="0"/>
          <a:ext cx="0" cy="0"/>
          <a:chOff x="0" y="0"/>
          <a:chExt cx="0" cy="0"/>
        </a:xfrm>
      </p:grpSpPr>
      <p:sp>
        <p:nvSpPr>
          <p:cNvPr id="12" name="Flèche droite à entaille 11">
            <a:extLst>
              <a:ext uri="{FF2B5EF4-FFF2-40B4-BE49-F238E27FC236}">
                <a16:creationId xmlns:a16="http://schemas.microsoft.com/office/drawing/2014/main" id="{32D98D0B-1174-26EC-57BF-7CE5AA39434B}"/>
              </a:ext>
            </a:extLst>
          </p:cNvPr>
          <p:cNvSpPr/>
          <p:nvPr/>
        </p:nvSpPr>
        <p:spPr>
          <a:xfrm>
            <a:off x="-66466" y="0"/>
            <a:ext cx="2529414" cy="87376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INTRODUCTION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7" name="Flèche droite à entaille 16">
            <a:extLst>
              <a:ext uri="{FF2B5EF4-FFF2-40B4-BE49-F238E27FC236}">
                <a16:creationId xmlns:a16="http://schemas.microsoft.com/office/drawing/2014/main" id="{78773580-74EF-48A5-7673-3EBB3DF7D5CD}"/>
              </a:ext>
            </a:extLst>
          </p:cNvPr>
          <p:cNvSpPr/>
          <p:nvPr/>
        </p:nvSpPr>
        <p:spPr>
          <a:xfrm>
            <a:off x="4832563" y="-30480"/>
            <a:ext cx="2620428" cy="93472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SOLUTION AU PROBLEME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8" name="Flèche droite à entaille 17">
            <a:extLst>
              <a:ext uri="{FF2B5EF4-FFF2-40B4-BE49-F238E27FC236}">
                <a16:creationId xmlns:a16="http://schemas.microsoft.com/office/drawing/2014/main" id="{C77EC72D-A673-3B8E-0789-F80E375C26CB}"/>
              </a:ext>
            </a:extLst>
          </p:cNvPr>
          <p:cNvSpPr/>
          <p:nvPr/>
        </p:nvSpPr>
        <p:spPr>
          <a:xfrm>
            <a:off x="7227356" y="-72209"/>
            <a:ext cx="2942804" cy="1008018"/>
          </a:xfrm>
          <a:prstGeom prst="notchedRightArrow">
            <a:avLst/>
          </a:prstGeom>
          <a:solidFill>
            <a:srgbClr val="FF0000"/>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CONCEPTION ET REALISATION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9" name="Flèche droite à entaille 18">
            <a:extLst>
              <a:ext uri="{FF2B5EF4-FFF2-40B4-BE49-F238E27FC236}">
                <a16:creationId xmlns:a16="http://schemas.microsoft.com/office/drawing/2014/main" id="{A3138D32-78D4-35AC-ABFA-F33CB32B445E}"/>
              </a:ext>
            </a:extLst>
          </p:cNvPr>
          <p:cNvSpPr/>
          <p:nvPr/>
        </p:nvSpPr>
        <p:spPr>
          <a:xfrm>
            <a:off x="10002520" y="-103778"/>
            <a:ext cx="2291710"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CONCLUSION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0" name="Flèche droite à entaille 19">
            <a:extLst>
              <a:ext uri="{FF2B5EF4-FFF2-40B4-BE49-F238E27FC236}">
                <a16:creationId xmlns:a16="http://schemas.microsoft.com/office/drawing/2014/main" id="{9A194A57-C52D-2B5B-1BF1-9A450F54E41E}"/>
              </a:ext>
            </a:extLst>
          </p:cNvPr>
          <p:cNvSpPr/>
          <p:nvPr/>
        </p:nvSpPr>
        <p:spPr>
          <a:xfrm>
            <a:off x="2283034" y="-72209"/>
            <a:ext cx="2738972" cy="1018178"/>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CONTEXTE ET PROBLEMATIQUE</a:t>
            </a:r>
            <a:endParaRPr lang="fr-CM"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819F83F-6E57-224D-DEA2-AAEA84BED4F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5960" y="1487409"/>
            <a:ext cx="4853976" cy="3883181"/>
          </a:xfrm>
          <a:prstGeom prst="rect">
            <a:avLst/>
          </a:prstGeom>
        </p:spPr>
      </p:pic>
      <p:sp>
        <p:nvSpPr>
          <p:cNvPr id="4" name="Espace réservé du contenu 2">
            <a:extLst>
              <a:ext uri="{FF2B5EF4-FFF2-40B4-BE49-F238E27FC236}">
                <a16:creationId xmlns:a16="http://schemas.microsoft.com/office/drawing/2014/main" id="{B8639754-6747-9B9A-ECD6-203C07E295A0}"/>
              </a:ext>
            </a:extLst>
          </p:cNvPr>
          <p:cNvSpPr txBox="1">
            <a:spLocks/>
          </p:cNvSpPr>
          <p:nvPr/>
        </p:nvSpPr>
        <p:spPr>
          <a:xfrm>
            <a:off x="374863" y="5450958"/>
            <a:ext cx="8915400"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Font typeface="Wingdings 3" charset="2"/>
              <a:buNone/>
            </a:pPr>
            <a:r>
              <a:rPr lang="fr-FR" sz="2000" dirty="0">
                <a:latin typeface="Times New Roman" panose="02020603050405020304" pitchFamily="18" charset="0"/>
                <a:cs typeface="Times New Roman" panose="02020603050405020304" pitchFamily="18" charset="0"/>
              </a:rPr>
              <a:t>Les courbes </a:t>
            </a:r>
            <a:r>
              <a:rPr lang="fr-FR" sz="2000" b="1" dirty="0">
                <a:latin typeface="Times New Roman" panose="02020603050405020304" pitchFamily="18" charset="0"/>
                <a:cs typeface="Times New Roman" panose="02020603050405020304" pitchFamily="18" charset="0"/>
              </a:rPr>
              <a:t>ROC (AUC = 0,728) sur le Stress Test </a:t>
            </a:r>
            <a:r>
              <a:rPr lang="fr-FR" sz="2000" dirty="0">
                <a:latin typeface="Times New Roman" panose="02020603050405020304" pitchFamily="18" charset="0"/>
                <a:cs typeface="Times New Roman" panose="02020603050405020304" pitchFamily="18" charset="0"/>
              </a:rPr>
              <a:t>et Précision-Rappel confirment que le </a:t>
            </a:r>
            <a:r>
              <a:rPr lang="fr-FR" sz="2000" b="1" dirty="0" err="1">
                <a:latin typeface="Times New Roman" panose="02020603050405020304" pitchFamily="18" charset="0"/>
                <a:cs typeface="Times New Roman" panose="02020603050405020304" pitchFamily="18" charset="0"/>
              </a:rPr>
              <a:t>Categorial</a:t>
            </a:r>
            <a:r>
              <a:rPr lang="fr-FR" sz="2000" b="1" dirty="0">
                <a:latin typeface="Times New Roman" panose="02020603050405020304" pitchFamily="18" charset="0"/>
                <a:cs typeface="Times New Roman" panose="02020603050405020304" pitchFamily="18" charset="0"/>
              </a:rPr>
              <a:t> </a:t>
            </a:r>
            <a:r>
              <a:rPr lang="fr-FR" sz="2000" b="1" dirty="0" err="1">
                <a:latin typeface="Times New Roman" panose="02020603050405020304" pitchFamily="18" charset="0"/>
                <a:cs typeface="Times New Roman" panose="02020603050405020304" pitchFamily="18" charset="0"/>
              </a:rPr>
              <a:t>Boosting</a:t>
            </a:r>
            <a:r>
              <a:rPr lang="fr-FR" sz="2000" b="1" dirty="0">
                <a:latin typeface="Times New Roman" panose="02020603050405020304" pitchFamily="18" charset="0"/>
                <a:cs typeface="Times New Roman" panose="02020603050405020304" pitchFamily="18" charset="0"/>
              </a:rPr>
              <a:t> (</a:t>
            </a:r>
            <a:r>
              <a:rPr lang="fr-FR" sz="2000" b="1" dirty="0" err="1">
                <a:latin typeface="Times New Roman" panose="02020603050405020304" pitchFamily="18" charset="0"/>
                <a:cs typeface="Times New Roman" panose="02020603050405020304" pitchFamily="18" charset="0"/>
              </a:rPr>
              <a:t>CatBoost</a:t>
            </a:r>
            <a:r>
              <a:rPr lang="fr-FR" sz="2000" b="1" dirty="0">
                <a:latin typeface="Times New Roman" panose="02020603050405020304" pitchFamily="18" charset="0"/>
                <a:cs typeface="Times New Roman" panose="02020603050405020304" pitchFamily="18" charset="0"/>
              </a:rPr>
              <a:t>)</a:t>
            </a:r>
            <a:r>
              <a:rPr lang="fr-FR" sz="2000" dirty="0">
                <a:latin typeface="Times New Roman" panose="02020603050405020304" pitchFamily="18" charset="0"/>
                <a:cs typeface="Times New Roman" panose="02020603050405020304" pitchFamily="18" charset="0"/>
              </a:rPr>
              <a:t> possède un pouvoir </a:t>
            </a:r>
            <a:r>
              <a:rPr lang="fr-FR" sz="2000" b="1" u="sng" dirty="0">
                <a:latin typeface="Times New Roman" panose="02020603050405020304" pitchFamily="18" charset="0"/>
                <a:cs typeface="Times New Roman" panose="02020603050405020304" pitchFamily="18" charset="0"/>
              </a:rPr>
              <a:t>discriminant satisfaisant et une bonne capacité de généralisation</a:t>
            </a:r>
            <a:r>
              <a:rPr lang="fr-FR" sz="2000" dirty="0">
                <a:latin typeface="Times New Roman" panose="02020603050405020304" pitchFamily="18" charset="0"/>
                <a:cs typeface="Times New Roman" panose="02020603050405020304" pitchFamily="18" charset="0"/>
              </a:rPr>
              <a:t> pour la prédiction de la sous-nutrition infantile à partir des données DHS Cameroun 2018.</a:t>
            </a:r>
          </a:p>
        </p:txBody>
      </p:sp>
      <p:pic>
        <p:nvPicPr>
          <p:cNvPr id="5" name="Image 10">
            <a:extLst>
              <a:ext uri="{FF2B5EF4-FFF2-40B4-BE49-F238E27FC236}">
                <a16:creationId xmlns:a16="http://schemas.microsoft.com/office/drawing/2014/main" id="{BE3FAB09-11C5-DB51-D0D3-98EA3B8FB0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58227" y="6368902"/>
            <a:ext cx="1247931" cy="489098"/>
          </a:xfrm>
          <a:prstGeom prst="rect">
            <a:avLst/>
          </a:prstGeom>
        </p:spPr>
      </p:pic>
      <p:pic>
        <p:nvPicPr>
          <p:cNvPr id="6" name="Picture 5">
            <a:extLst>
              <a:ext uri="{FF2B5EF4-FFF2-40B4-BE49-F238E27FC236}">
                <a16:creationId xmlns:a16="http://schemas.microsoft.com/office/drawing/2014/main" id="{2338105F-FF26-51F5-1412-EF91055F992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41051" y="1277737"/>
            <a:ext cx="4722029" cy="3883181"/>
          </a:xfrm>
          <a:prstGeom prst="rect">
            <a:avLst/>
          </a:prstGeom>
        </p:spPr>
      </p:pic>
    </p:spTree>
    <p:extLst>
      <p:ext uri="{BB962C8B-B14F-4D97-AF65-F5344CB8AC3E}">
        <p14:creationId xmlns:p14="http://schemas.microsoft.com/office/powerpoint/2010/main" val="351224049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2">
            <a:extLst>
              <a:ext uri="{FF2B5EF4-FFF2-40B4-BE49-F238E27FC236}">
                <a16:creationId xmlns:a16="http://schemas.microsoft.com/office/drawing/2014/main" id="{B8E4F0C2-F05A-AAB0-E9AF-F70C2ECE6699}"/>
              </a:ext>
            </a:extLst>
          </p:cNvPr>
          <p:cNvSpPr txBox="1">
            <a:spLocks/>
          </p:cNvSpPr>
          <p:nvPr/>
        </p:nvSpPr>
        <p:spPr>
          <a:xfrm>
            <a:off x="0" y="95439"/>
            <a:ext cx="10047514"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fr-FR" b="1" dirty="0">
                <a:latin typeface="Times New Roman" panose="02020603050405020304" pitchFamily="18" charset="0"/>
                <a:cs typeface="Times New Roman" panose="02020603050405020304" pitchFamily="18" charset="0"/>
              </a:rPr>
              <a:t>Performances du Modèle Prédictif Final &amp; Robustesse du Stress </a:t>
            </a:r>
            <a:r>
              <a:rPr lang="fr-FR" b="1" dirty="0" err="1">
                <a:latin typeface="Times New Roman" panose="02020603050405020304" pitchFamily="18" charset="0"/>
                <a:cs typeface="Times New Roman" panose="02020603050405020304" pitchFamily="18" charset="0"/>
              </a:rPr>
              <a:t>Testing</a:t>
            </a:r>
            <a:endParaRPr lang="fr-FR" b="1" dirty="0">
              <a:latin typeface="Times New Roman" panose="02020603050405020304" pitchFamily="18" charset="0"/>
              <a:cs typeface="Times New Roman" panose="02020603050405020304" pitchFamily="18" charset="0"/>
            </a:endParaRPr>
          </a:p>
          <a:p>
            <a:pPr algn="just"/>
            <a:r>
              <a:rPr lang="fr-FR" b="1" dirty="0">
                <a:latin typeface="Times New Roman" panose="02020603050405020304" pitchFamily="18" charset="0"/>
                <a:cs typeface="Times New Roman" panose="02020603050405020304" pitchFamily="18" charset="0"/>
              </a:rPr>
              <a:t>Désignation de l'Architecture Championne</a:t>
            </a:r>
            <a:r>
              <a:rPr lang="fr-FR" dirty="0">
                <a:latin typeface="Times New Roman" panose="02020603050405020304" pitchFamily="18" charset="0"/>
                <a:cs typeface="Times New Roman" panose="02020603050405020304" pitchFamily="18" charset="0"/>
              </a:rPr>
              <a:t> : Le modèle </a:t>
            </a:r>
            <a:r>
              <a:rPr lang="fr-FR" b="1" dirty="0" err="1">
                <a:latin typeface="Times New Roman" panose="02020603050405020304" pitchFamily="18" charset="0"/>
                <a:cs typeface="Times New Roman" panose="02020603050405020304" pitchFamily="18" charset="0"/>
              </a:rPr>
              <a:t>CatBoost</a:t>
            </a:r>
            <a:r>
              <a:rPr lang="fr-FR" b="1" dirty="0">
                <a:latin typeface="Times New Roman" panose="02020603050405020304" pitchFamily="18" charset="0"/>
                <a:cs typeface="Times New Roman" panose="02020603050405020304" pitchFamily="18" charset="0"/>
              </a:rPr>
              <a:t> Classifier Optimisé</a:t>
            </a:r>
            <a:r>
              <a:rPr lang="fr-FR" dirty="0">
                <a:latin typeface="Times New Roman" panose="02020603050405020304" pitchFamily="18" charset="0"/>
                <a:cs typeface="Times New Roman" panose="02020603050405020304" pitchFamily="18" charset="0"/>
              </a:rPr>
              <a:t> surclasse les cinq autres architectures en compétition (</a:t>
            </a:r>
            <a:r>
              <a:rPr lang="fr-FR" dirty="0" err="1">
                <a:latin typeface="Times New Roman" panose="02020603050405020304" pitchFamily="18" charset="0"/>
                <a:cs typeface="Times New Roman" panose="02020603050405020304" pitchFamily="18" charset="0"/>
              </a:rPr>
              <a:t>XGBoost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LightGBM</a:t>
            </a:r>
            <a:r>
              <a:rPr lang="fr-FR" dirty="0">
                <a:latin typeface="Times New Roman" panose="02020603050405020304" pitchFamily="18" charset="0"/>
                <a:cs typeface="Times New Roman" panose="02020603050405020304" pitchFamily="18" charset="0"/>
              </a:rPr>
              <a:t>, Random Forest, Régression Logistique et MLP), confirmant la supériorité des arbres de décision symétriques sur les données tabulaires de l'EDSC-V 2018.</a:t>
            </a:r>
          </a:p>
          <a:p>
            <a:pPr algn="just"/>
            <a:r>
              <a:rPr lang="fr-FR" b="1" dirty="0">
                <a:latin typeface="Times New Roman" panose="02020603050405020304" pitchFamily="18" charset="0"/>
                <a:cs typeface="Times New Roman" panose="02020603050405020304" pitchFamily="18" charset="0"/>
              </a:rPr>
              <a:t>Capacité Discriminante Globale de Référence</a:t>
            </a:r>
            <a:r>
              <a:rPr lang="fr-FR" dirty="0">
                <a:latin typeface="Times New Roman" panose="02020603050405020304" pitchFamily="18" charset="0"/>
                <a:cs typeface="Times New Roman" panose="02020603050405020304" pitchFamily="18" charset="0"/>
              </a:rPr>
              <a:t> : L'algorithme atteint une excellente performance prédictive avec une aire sous la courbe </a:t>
            </a:r>
            <a:r>
              <a:rPr lang="fr-FR" b="1" dirty="0">
                <a:latin typeface="Times New Roman" panose="02020603050405020304" pitchFamily="18" charset="0"/>
                <a:cs typeface="Times New Roman" panose="02020603050405020304" pitchFamily="18" charset="0"/>
              </a:rPr>
              <a:t>ROC AUC de 0,7442</a:t>
            </a:r>
            <a:r>
              <a:rPr lang="fr-FR" dirty="0">
                <a:latin typeface="Times New Roman" panose="02020603050405020304" pitchFamily="18" charset="0"/>
                <a:cs typeface="Times New Roman" panose="02020603050405020304" pitchFamily="18" charset="0"/>
              </a:rPr>
              <a:t> sur le compartiment d'évaluation standard, prouvant un fort pouvoir de différenciation entre enfants sains et en échec anthropométrique (ICEA).</a:t>
            </a:r>
          </a:p>
          <a:p>
            <a:pPr algn="just"/>
            <a:r>
              <a:rPr lang="fr-FR" b="1" dirty="0">
                <a:latin typeface="Times New Roman" panose="02020603050405020304" pitchFamily="18" charset="0"/>
                <a:cs typeface="Times New Roman" panose="02020603050405020304" pitchFamily="18" charset="0"/>
              </a:rPr>
              <a:t>Éradication du Risque de Surapprentissage</a:t>
            </a:r>
            <a:r>
              <a:rPr lang="fr-FR" dirty="0">
                <a:latin typeface="Times New Roman" panose="02020603050405020304" pitchFamily="18" charset="0"/>
                <a:cs typeface="Times New Roman" panose="02020603050405020304" pitchFamily="18" charset="0"/>
              </a:rPr>
              <a:t> : Le pipeline affiche une stabilité mathématique absolue avec un </a:t>
            </a:r>
            <a:r>
              <a:rPr lang="fr-FR" b="1" dirty="0">
                <a:latin typeface="Times New Roman" panose="02020603050405020304" pitchFamily="18" charset="0"/>
                <a:cs typeface="Times New Roman" panose="02020603050405020304" pitchFamily="18" charset="0"/>
              </a:rPr>
              <a:t>Delta AUC de seulement 0,0049</a:t>
            </a:r>
            <a:r>
              <a:rPr lang="fr-FR" dirty="0">
                <a:latin typeface="Times New Roman" panose="02020603050405020304" pitchFamily="18" charset="0"/>
                <a:cs typeface="Times New Roman" panose="02020603050405020304" pitchFamily="18" charset="0"/>
              </a:rPr>
              <a:t> entre l'apprentissage (0,7492) et le test (0,7442), validant l'efficacité des contraintes de régularisation de crête (L₂ = 180) et d'élagage précoce (profondeur = 3).</a:t>
            </a:r>
          </a:p>
          <a:p>
            <a:pPr algn="just"/>
            <a:r>
              <a:rPr lang="fr-FR" b="1" dirty="0">
                <a:latin typeface="Times New Roman" panose="02020603050405020304" pitchFamily="18" charset="0"/>
                <a:cs typeface="Times New Roman" panose="02020603050405020304" pitchFamily="18" charset="0"/>
              </a:rPr>
              <a:t>Validation par Test de Résistance (Stress </a:t>
            </a:r>
            <a:r>
              <a:rPr lang="fr-FR" b="1" dirty="0" err="1">
                <a:latin typeface="Times New Roman" panose="02020603050405020304" pitchFamily="18" charset="0"/>
                <a:cs typeface="Times New Roman" panose="02020603050405020304" pitchFamily="18" charset="0"/>
              </a:rPr>
              <a:t>Testing</a:t>
            </a:r>
            <a:r>
              <a:rPr lang="fr-FR" b="1" dirty="0">
                <a:latin typeface="Times New Roman" panose="02020603050405020304" pitchFamily="18" charset="0"/>
                <a:cs typeface="Times New Roman" panose="02020603050405020304" pitchFamily="18" charset="0"/>
              </a:rPr>
              <a:t>)</a:t>
            </a:r>
            <a:r>
              <a:rPr lang="fr-FR" dirty="0">
                <a:latin typeface="Times New Roman" panose="02020603050405020304" pitchFamily="18" charset="0"/>
                <a:cs typeface="Times New Roman" panose="02020603050405020304" pitchFamily="18" charset="0"/>
              </a:rPr>
              <a:t> : Évalué de manière aveugle sur un pool de grappes de sondage </a:t>
            </a:r>
            <a:r>
              <a:rPr lang="fr-FR" b="1" dirty="0">
                <a:latin typeface="Times New Roman" panose="02020603050405020304" pitchFamily="18" charset="0"/>
                <a:cs typeface="Times New Roman" panose="02020603050405020304" pitchFamily="18" charset="0"/>
              </a:rPr>
              <a:t>v001</a:t>
            </a:r>
            <a:r>
              <a:rPr lang="fr-FR" dirty="0">
                <a:latin typeface="Times New Roman" panose="02020603050405020304" pitchFamily="18" charset="0"/>
                <a:cs typeface="Times New Roman" panose="02020603050405020304" pitchFamily="18" charset="0"/>
              </a:rPr>
              <a:t> totalement inconnues et exclues de tout le processus d'ajustement, le modèle maintient une performance remarquable avec un score </a:t>
            </a:r>
            <a:r>
              <a:rPr lang="fr-FR" b="1" dirty="0">
                <a:latin typeface="Times New Roman" panose="02020603050405020304" pitchFamily="18" charset="0"/>
                <a:cs typeface="Times New Roman" panose="02020603050405020304" pitchFamily="18" charset="0"/>
              </a:rPr>
              <a:t>ROC AUC de 0,7278</a:t>
            </a:r>
            <a:r>
              <a:rPr lang="fr-FR" dirty="0">
                <a:latin typeface="Times New Roman" panose="02020603050405020304" pitchFamily="18" charset="0"/>
                <a:cs typeface="Times New Roman" panose="02020603050405020304" pitchFamily="18" charset="0"/>
              </a:rPr>
              <a:t>.</a:t>
            </a:r>
          </a:p>
          <a:p>
            <a:pPr algn="just"/>
            <a:r>
              <a:rPr lang="fr-FR" b="1" dirty="0">
                <a:latin typeface="Times New Roman" panose="02020603050405020304" pitchFamily="18" charset="0"/>
                <a:cs typeface="Times New Roman" panose="02020603050405020304" pitchFamily="18" charset="0"/>
              </a:rPr>
              <a:t>Calibration Énergétique de la Perte</a:t>
            </a:r>
            <a:r>
              <a:rPr lang="fr-FR" dirty="0">
                <a:latin typeface="Times New Roman" panose="02020603050405020304" pitchFamily="18" charset="0"/>
                <a:cs typeface="Times New Roman" panose="02020603050405020304" pitchFamily="18" charset="0"/>
              </a:rPr>
              <a:t> : Le modèle stabilise sa fonction de coût avec un score </a:t>
            </a:r>
            <a:r>
              <a:rPr lang="fr-FR" b="1" dirty="0">
                <a:latin typeface="Times New Roman" panose="02020603050405020304" pitchFamily="18" charset="0"/>
                <a:cs typeface="Times New Roman" panose="02020603050405020304" pitchFamily="18" charset="0"/>
              </a:rPr>
              <a:t>Log-Loss de 0,5856</a:t>
            </a:r>
            <a:r>
              <a:rPr lang="fr-FR" dirty="0">
                <a:latin typeface="Times New Roman" panose="02020603050405020304" pitchFamily="18" charset="0"/>
                <a:cs typeface="Times New Roman" panose="02020603050405020304" pitchFamily="18" charset="0"/>
              </a:rPr>
              <a:t> sur le test et </a:t>
            </a:r>
            <a:r>
              <a:rPr lang="fr-FR" b="1" dirty="0">
                <a:latin typeface="Times New Roman" panose="02020603050405020304" pitchFamily="18" charset="0"/>
                <a:cs typeface="Times New Roman" panose="02020603050405020304" pitchFamily="18" charset="0"/>
              </a:rPr>
              <a:t>0,6087</a:t>
            </a:r>
            <a:r>
              <a:rPr lang="fr-FR" dirty="0">
                <a:latin typeface="Times New Roman" panose="02020603050405020304" pitchFamily="18" charset="0"/>
                <a:cs typeface="Times New Roman" panose="02020603050405020304" pitchFamily="18" charset="0"/>
              </a:rPr>
              <a:t> en conditions de Stress Test, assurant des prédictions de probabilités hautement fiables pour les décideurs de santé publique.</a:t>
            </a:r>
          </a:p>
          <a:p>
            <a:pPr algn="just"/>
            <a:r>
              <a:rPr lang="fr-FR" b="1" dirty="0">
                <a:latin typeface="Times New Roman" panose="02020603050405020304" pitchFamily="18" charset="0"/>
                <a:cs typeface="Times New Roman" panose="02020603050405020304" pitchFamily="18" charset="0"/>
              </a:rPr>
              <a:t>Équilibre et Précision de </a:t>
            </a:r>
            <a:r>
              <a:rPr lang="fr-FR" b="1" dirty="0" err="1">
                <a:latin typeface="Times New Roman" panose="02020603050405020304" pitchFamily="18" charset="0"/>
                <a:cs typeface="Times New Roman" panose="02020603050405020304" pitchFamily="18" charset="0"/>
              </a:rPr>
              <a:t>probabilites</a:t>
            </a:r>
            <a:r>
              <a:rPr lang="fr-FR" dirty="0">
                <a:latin typeface="Times New Roman" panose="02020603050405020304" pitchFamily="18" charset="0"/>
                <a:cs typeface="Times New Roman" panose="02020603050405020304" pitchFamily="18" charset="0"/>
              </a:rPr>
              <a:t> : Le modèle maintient un </a:t>
            </a:r>
            <a:r>
              <a:rPr lang="fr-FR" b="1" dirty="0">
                <a:latin typeface="Times New Roman" panose="02020603050405020304" pitchFamily="18" charset="0"/>
                <a:cs typeface="Times New Roman" panose="02020603050405020304" pitchFamily="18" charset="0"/>
              </a:rPr>
              <a:t>F1-Score Macro stable de 0,6541</a:t>
            </a:r>
            <a:r>
              <a:rPr lang="fr-FR" dirty="0">
                <a:latin typeface="Times New Roman" panose="02020603050405020304" pitchFamily="18" charset="0"/>
                <a:cs typeface="Times New Roman" panose="02020603050405020304" pitchFamily="18" charset="0"/>
              </a:rPr>
              <a:t> en situation de Stress Test, démontrant sa capacité à surmonter le déséquilibre initial de la cible pour détecter efficacement la minorité d'enfants en situation de détresse nutritionnelle.</a:t>
            </a:r>
          </a:p>
          <a:p>
            <a:pPr algn="just"/>
            <a:r>
              <a:rPr lang="fr-FR" sz="1600" b="1" dirty="0">
                <a:latin typeface="Times New Roman" panose="02020603050405020304" pitchFamily="18" charset="0"/>
                <a:cs typeface="Times New Roman" panose="02020603050405020304" pitchFamily="18" charset="0"/>
              </a:rPr>
              <a:t>.</a:t>
            </a:r>
            <a:endParaRPr lang="fr-FR" sz="1600" dirty="0">
              <a:latin typeface="Times New Roman" panose="02020603050405020304" pitchFamily="18" charset="0"/>
              <a:cs typeface="Times New Roman" panose="02020603050405020304" pitchFamily="18" charset="0"/>
            </a:endParaRPr>
          </a:p>
          <a:p>
            <a:pPr marL="0" indent="0" algn="just">
              <a:buFont typeface="Wingdings 3" charset="2"/>
              <a:buNone/>
            </a:pPr>
            <a:endParaRPr lang="fr-F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80359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A6AC8-ACBF-4F8F-FF53-7C100F7DFE92}"/>
            </a:ext>
          </a:extLst>
        </p:cNvPr>
        <p:cNvGrpSpPr/>
        <p:nvPr/>
      </p:nvGrpSpPr>
      <p:grpSpPr>
        <a:xfrm>
          <a:off x="0" y="0"/>
          <a:ext cx="0" cy="0"/>
          <a:chOff x="0" y="0"/>
          <a:chExt cx="0" cy="0"/>
        </a:xfrm>
      </p:grpSpPr>
      <p:sp>
        <p:nvSpPr>
          <p:cNvPr id="12" name="Flèche droite à entaille 11">
            <a:extLst>
              <a:ext uri="{FF2B5EF4-FFF2-40B4-BE49-F238E27FC236}">
                <a16:creationId xmlns:a16="http://schemas.microsoft.com/office/drawing/2014/main" id="{9D4B4FB6-0BF8-8A97-A2CD-DA00B91F5490}"/>
              </a:ext>
            </a:extLst>
          </p:cNvPr>
          <p:cNvSpPr/>
          <p:nvPr/>
        </p:nvSpPr>
        <p:spPr>
          <a:xfrm>
            <a:off x="-66466" y="0"/>
            <a:ext cx="2529414" cy="87376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INTRODUCTION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7" name="Flèche droite à entaille 16">
            <a:extLst>
              <a:ext uri="{FF2B5EF4-FFF2-40B4-BE49-F238E27FC236}">
                <a16:creationId xmlns:a16="http://schemas.microsoft.com/office/drawing/2014/main" id="{17A21985-4931-F9F9-635F-A8B4ABC31215}"/>
              </a:ext>
            </a:extLst>
          </p:cNvPr>
          <p:cNvSpPr/>
          <p:nvPr/>
        </p:nvSpPr>
        <p:spPr>
          <a:xfrm>
            <a:off x="4832563" y="-30480"/>
            <a:ext cx="2620428" cy="93472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SOLUTION AU PROBLEME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8" name="Flèche droite à entaille 17">
            <a:extLst>
              <a:ext uri="{FF2B5EF4-FFF2-40B4-BE49-F238E27FC236}">
                <a16:creationId xmlns:a16="http://schemas.microsoft.com/office/drawing/2014/main" id="{1957CD1B-2CBB-6978-1D42-C0FCACAA6CD4}"/>
              </a:ext>
            </a:extLst>
          </p:cNvPr>
          <p:cNvSpPr/>
          <p:nvPr/>
        </p:nvSpPr>
        <p:spPr>
          <a:xfrm>
            <a:off x="7227356" y="-72209"/>
            <a:ext cx="2942804" cy="1008018"/>
          </a:xfrm>
          <a:prstGeom prst="notchedRightArrow">
            <a:avLst/>
          </a:prstGeom>
          <a:solidFill>
            <a:srgbClr val="FF0000"/>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CONCEPTION ET REALISATION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9" name="Flèche droite à entaille 18">
            <a:extLst>
              <a:ext uri="{FF2B5EF4-FFF2-40B4-BE49-F238E27FC236}">
                <a16:creationId xmlns:a16="http://schemas.microsoft.com/office/drawing/2014/main" id="{387E7C6C-7F82-E658-06E2-405E7B697D47}"/>
              </a:ext>
            </a:extLst>
          </p:cNvPr>
          <p:cNvSpPr/>
          <p:nvPr/>
        </p:nvSpPr>
        <p:spPr>
          <a:xfrm>
            <a:off x="10002520" y="-103778"/>
            <a:ext cx="2291710"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CONCLUSION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0" name="Flèche droite à entaille 19">
            <a:extLst>
              <a:ext uri="{FF2B5EF4-FFF2-40B4-BE49-F238E27FC236}">
                <a16:creationId xmlns:a16="http://schemas.microsoft.com/office/drawing/2014/main" id="{BB3EDD3A-FB6E-F283-15C8-F6F143A89FD3}"/>
              </a:ext>
            </a:extLst>
          </p:cNvPr>
          <p:cNvSpPr/>
          <p:nvPr/>
        </p:nvSpPr>
        <p:spPr>
          <a:xfrm>
            <a:off x="2283034" y="-72209"/>
            <a:ext cx="2738972" cy="1018178"/>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CONTEXTE ET PROBLEMATIQUE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 name="Titre 1">
            <a:extLst>
              <a:ext uri="{FF2B5EF4-FFF2-40B4-BE49-F238E27FC236}">
                <a16:creationId xmlns:a16="http://schemas.microsoft.com/office/drawing/2014/main" id="{668B4977-EF82-498C-FDE5-8F32F3A07E89}"/>
              </a:ext>
            </a:extLst>
          </p:cNvPr>
          <p:cNvSpPr txBox="1">
            <a:spLocks/>
          </p:cNvSpPr>
          <p:nvPr/>
        </p:nvSpPr>
        <p:spPr>
          <a:xfrm>
            <a:off x="374863" y="2243219"/>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fr-FR" b="1" dirty="0">
                <a:solidFill>
                  <a:schemeClr val="tx1"/>
                </a:solidFill>
                <a:latin typeface="Times New Roman" panose="02020603050405020304" pitchFamily="18" charset="0"/>
                <a:cs typeface="Times New Roman" panose="02020603050405020304" pitchFamily="18" charset="0"/>
              </a:rPr>
              <a:t>Phase </a:t>
            </a:r>
            <a:r>
              <a:rPr lang="fr-FR" b="1" dirty="0" err="1">
                <a:solidFill>
                  <a:schemeClr val="tx1"/>
                </a:solidFill>
                <a:latin typeface="Times New Roman" panose="02020603050405020304" pitchFamily="18" charset="0"/>
                <a:cs typeface="Times New Roman" panose="02020603050405020304" pitchFamily="18" charset="0"/>
              </a:rPr>
              <a:t>demo</a:t>
            </a:r>
            <a:r>
              <a:rPr lang="fr-FR" b="1" dirty="0">
                <a:solidFill>
                  <a:schemeClr val="tx1"/>
                </a:solidFill>
                <a:latin typeface="Times New Roman" panose="02020603050405020304" pitchFamily="18" charset="0"/>
                <a:cs typeface="Times New Roman" panose="02020603050405020304" pitchFamily="18" charset="0"/>
              </a:rPr>
              <a:t> de </a:t>
            </a:r>
            <a:r>
              <a:rPr lang="fr-FR" b="1" dirty="0" err="1">
                <a:solidFill>
                  <a:schemeClr val="tx1"/>
                </a:solidFill>
                <a:latin typeface="Times New Roman" panose="02020603050405020304" pitchFamily="18" charset="0"/>
                <a:cs typeface="Times New Roman" panose="02020603050405020304" pitchFamily="18" charset="0"/>
              </a:rPr>
              <a:t>presentation</a:t>
            </a:r>
            <a:r>
              <a:rPr lang="fr-FR" b="1" dirty="0">
                <a:solidFill>
                  <a:schemeClr val="tx1"/>
                </a:solidFill>
                <a:latin typeface="Times New Roman" panose="02020603050405020304" pitchFamily="18" charset="0"/>
                <a:cs typeface="Times New Roman" panose="02020603050405020304" pitchFamily="18" charset="0"/>
              </a:rPr>
              <a:t> de l’appli</a:t>
            </a:r>
          </a:p>
        </p:txBody>
      </p:sp>
      <p:sp>
        <p:nvSpPr>
          <p:cNvPr id="4" name="Espace réservé du contenu 2">
            <a:extLst>
              <a:ext uri="{FF2B5EF4-FFF2-40B4-BE49-F238E27FC236}">
                <a16:creationId xmlns:a16="http://schemas.microsoft.com/office/drawing/2014/main" id="{909931A5-87A3-802F-A85E-2D9C7EC3347C}"/>
              </a:ext>
            </a:extLst>
          </p:cNvPr>
          <p:cNvSpPr txBox="1">
            <a:spLocks/>
          </p:cNvSpPr>
          <p:nvPr/>
        </p:nvSpPr>
        <p:spPr>
          <a:xfrm>
            <a:off x="374863" y="3254144"/>
            <a:ext cx="8915400"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fr-FR" sz="2000" dirty="0">
                <a:latin typeface="Times New Roman" panose="02020603050405020304" pitchFamily="18" charset="0"/>
                <a:cs typeface="Times New Roman" panose="02020603050405020304" pitchFamily="18" charset="0"/>
              </a:rPr>
              <a:t>Afin de rendre le modèle exploitable dans un contexte réel d'aide à la décision, une application web interactive a été développée sous </a:t>
            </a:r>
            <a:r>
              <a:rPr lang="fr-FR" sz="2000" b="1" dirty="0" err="1">
                <a:latin typeface="Times New Roman" panose="02020603050405020304" pitchFamily="18" charset="0"/>
                <a:cs typeface="Times New Roman" panose="02020603050405020304" pitchFamily="18" charset="0"/>
              </a:rPr>
              <a:t>Streamlit</a:t>
            </a:r>
            <a:r>
              <a:rPr lang="fr-FR" sz="2000" dirty="0">
                <a:latin typeface="Times New Roman" panose="02020603050405020304" pitchFamily="18" charset="0"/>
                <a:cs typeface="Times New Roman" panose="02020603050405020304" pitchFamily="18" charset="0"/>
              </a:rPr>
              <a:t>. Cette plateforme permet aux utilisateurs de saisir les caractéristiques d'un enfant et de son environnement afin d'obtenir instantanément une prédiction du risque de sous-nutrition à partir du modèle de </a:t>
            </a:r>
            <a:r>
              <a:rPr lang="fr-FR" sz="2000" b="1" dirty="0" err="1">
                <a:latin typeface="Times New Roman" panose="02020603050405020304" pitchFamily="18" charset="0"/>
                <a:cs typeface="Times New Roman" panose="02020603050405020304" pitchFamily="18" charset="0"/>
              </a:rPr>
              <a:t>Categorical</a:t>
            </a:r>
            <a:r>
              <a:rPr lang="fr-FR" sz="2000" b="1" dirty="0">
                <a:latin typeface="Times New Roman" panose="02020603050405020304" pitchFamily="18" charset="0"/>
                <a:cs typeface="Times New Roman" panose="02020603050405020304" pitchFamily="18" charset="0"/>
              </a:rPr>
              <a:t> </a:t>
            </a:r>
            <a:r>
              <a:rPr lang="fr-FR" sz="2000" b="1" dirty="0" err="1">
                <a:latin typeface="Times New Roman" panose="02020603050405020304" pitchFamily="18" charset="0"/>
                <a:cs typeface="Times New Roman" panose="02020603050405020304" pitchFamily="18" charset="0"/>
              </a:rPr>
              <a:t>Boosting</a:t>
            </a:r>
            <a:r>
              <a:rPr lang="fr-FR" sz="2000" b="1" dirty="0">
                <a:latin typeface="Times New Roman" panose="02020603050405020304" pitchFamily="18" charset="0"/>
                <a:cs typeface="Times New Roman" panose="02020603050405020304" pitchFamily="18" charset="0"/>
              </a:rPr>
              <a:t> (</a:t>
            </a:r>
            <a:r>
              <a:rPr lang="fr-FR" sz="2000" b="1" dirty="0" err="1">
                <a:latin typeface="Times New Roman" panose="02020603050405020304" pitchFamily="18" charset="0"/>
                <a:cs typeface="Times New Roman" panose="02020603050405020304" pitchFamily="18" charset="0"/>
              </a:rPr>
              <a:t>CatBoost</a:t>
            </a:r>
            <a:r>
              <a:rPr lang="fr-FR" sz="2000" b="1" dirty="0">
                <a:latin typeface="Times New Roman" panose="02020603050405020304" pitchFamily="18" charset="0"/>
                <a:cs typeface="Times New Roman" panose="02020603050405020304" pitchFamily="18" charset="0"/>
              </a:rPr>
              <a:t>)</a:t>
            </a:r>
            <a:r>
              <a:rPr lang="fr-FR" sz="2000" dirty="0">
                <a:latin typeface="Times New Roman" panose="02020603050405020304" pitchFamily="18" charset="0"/>
                <a:cs typeface="Times New Roman" panose="02020603050405020304" pitchFamily="18" charset="0"/>
              </a:rPr>
              <a:t> entraîné.</a:t>
            </a:r>
          </a:p>
          <a:p>
            <a:pPr marL="0" indent="0" algn="just">
              <a:buNone/>
            </a:pPr>
            <a:endParaRPr lang="fr-FR" sz="2000" dirty="0">
              <a:latin typeface="Times New Roman" panose="02020603050405020304" pitchFamily="18" charset="0"/>
              <a:cs typeface="Times New Roman" panose="02020603050405020304" pitchFamily="18" charset="0"/>
            </a:endParaRPr>
          </a:p>
          <a:p>
            <a:pPr marL="0" indent="0" algn="just">
              <a:buNone/>
            </a:pPr>
            <a:r>
              <a:rPr lang="fr-FR" sz="2000" b="1" dirty="0">
                <a:latin typeface="Times New Roman" panose="02020603050405020304" pitchFamily="18" charset="0"/>
                <a:cs typeface="Times New Roman" panose="02020603050405020304" pitchFamily="18" charset="0"/>
              </a:rPr>
              <a:t>Lien de l’application: </a:t>
            </a:r>
            <a:r>
              <a:rPr lang="fr-FR" sz="2000" b="1" u="sng"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https://sous-nutrition-eds.streamlit.app/</a:t>
            </a:r>
            <a:endParaRPr lang="fr-FR" sz="2000" b="1" dirty="0">
              <a:solidFill>
                <a:schemeClr val="tx1"/>
              </a:solidFill>
              <a:latin typeface="Times New Roman" panose="02020603050405020304" pitchFamily="18" charset="0"/>
              <a:cs typeface="Times New Roman" panose="02020603050405020304" pitchFamily="18" charset="0"/>
            </a:endParaRPr>
          </a:p>
          <a:p>
            <a:pPr marL="0" indent="0" algn="just">
              <a:buNone/>
            </a:pPr>
            <a:endParaRPr lang="fr-FR" sz="2000" dirty="0">
              <a:latin typeface="Times New Roman" panose="02020603050405020304" pitchFamily="18" charset="0"/>
              <a:cs typeface="Times New Roman" panose="02020603050405020304" pitchFamily="18" charset="0"/>
            </a:endParaRPr>
          </a:p>
        </p:txBody>
      </p:sp>
      <p:pic>
        <p:nvPicPr>
          <p:cNvPr id="5" name="Image 10">
            <a:extLst>
              <a:ext uri="{FF2B5EF4-FFF2-40B4-BE49-F238E27FC236}">
                <a16:creationId xmlns:a16="http://schemas.microsoft.com/office/drawing/2014/main" id="{4CC57BCC-98D1-4CA4-050D-BF38C4B716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8171" y="6019970"/>
            <a:ext cx="2240399" cy="878073"/>
          </a:xfrm>
          <a:prstGeom prst="rect">
            <a:avLst/>
          </a:prstGeom>
        </p:spPr>
      </p:pic>
    </p:spTree>
    <p:extLst>
      <p:ext uri="{BB962C8B-B14F-4D97-AF65-F5344CB8AC3E}">
        <p14:creationId xmlns:p14="http://schemas.microsoft.com/office/powerpoint/2010/main" val="328198485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A87F1-A790-FB3B-25C2-43108AC3D95D}"/>
            </a:ext>
          </a:extLst>
        </p:cNvPr>
        <p:cNvGrpSpPr/>
        <p:nvPr/>
      </p:nvGrpSpPr>
      <p:grpSpPr>
        <a:xfrm>
          <a:off x="0" y="0"/>
          <a:ext cx="0" cy="0"/>
          <a:chOff x="0" y="0"/>
          <a:chExt cx="0" cy="0"/>
        </a:xfrm>
      </p:grpSpPr>
      <p:sp>
        <p:nvSpPr>
          <p:cNvPr id="12" name="Flèche droite à entaille 11">
            <a:extLst>
              <a:ext uri="{FF2B5EF4-FFF2-40B4-BE49-F238E27FC236}">
                <a16:creationId xmlns:a16="http://schemas.microsoft.com/office/drawing/2014/main" id="{FF41625D-10E8-F474-9908-695A4163C206}"/>
              </a:ext>
            </a:extLst>
          </p:cNvPr>
          <p:cNvSpPr/>
          <p:nvPr/>
        </p:nvSpPr>
        <p:spPr>
          <a:xfrm>
            <a:off x="-66466" y="0"/>
            <a:ext cx="2529414" cy="87376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INTRODUCTION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7" name="Flèche droite à entaille 16">
            <a:extLst>
              <a:ext uri="{FF2B5EF4-FFF2-40B4-BE49-F238E27FC236}">
                <a16:creationId xmlns:a16="http://schemas.microsoft.com/office/drawing/2014/main" id="{D9194086-4B21-AFF2-2F1D-75FE72B450F0}"/>
              </a:ext>
            </a:extLst>
          </p:cNvPr>
          <p:cNvSpPr/>
          <p:nvPr/>
        </p:nvSpPr>
        <p:spPr>
          <a:xfrm>
            <a:off x="4832563" y="-30480"/>
            <a:ext cx="2620428" cy="93472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SOLUTION AU PROBLEME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8" name="Flèche droite à entaille 17">
            <a:extLst>
              <a:ext uri="{FF2B5EF4-FFF2-40B4-BE49-F238E27FC236}">
                <a16:creationId xmlns:a16="http://schemas.microsoft.com/office/drawing/2014/main" id="{FAE9B2B6-C85A-5DBA-A32D-80C80675B8E8}"/>
              </a:ext>
            </a:extLst>
          </p:cNvPr>
          <p:cNvSpPr/>
          <p:nvPr/>
        </p:nvSpPr>
        <p:spPr>
          <a:xfrm>
            <a:off x="7227356" y="-72209"/>
            <a:ext cx="2942804" cy="1008018"/>
          </a:xfrm>
          <a:prstGeom prst="notchedRightArrow">
            <a:avLst/>
          </a:prstGeom>
          <a:solidFill>
            <a:srgbClr val="FF0000"/>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CONCEPTION ET REALISATION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9" name="Flèche droite à entaille 18">
            <a:extLst>
              <a:ext uri="{FF2B5EF4-FFF2-40B4-BE49-F238E27FC236}">
                <a16:creationId xmlns:a16="http://schemas.microsoft.com/office/drawing/2014/main" id="{64906407-FD8B-18B8-64BC-3AC9F85C2A34}"/>
              </a:ext>
            </a:extLst>
          </p:cNvPr>
          <p:cNvSpPr/>
          <p:nvPr/>
        </p:nvSpPr>
        <p:spPr>
          <a:xfrm>
            <a:off x="10002520" y="-103778"/>
            <a:ext cx="2291710" cy="1008018"/>
          </a:xfrm>
          <a:prstGeom prst="notchedRightArrow">
            <a:avLst/>
          </a:prstGeom>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CONCLUSION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0" name="Flèche droite à entaille 19">
            <a:extLst>
              <a:ext uri="{FF2B5EF4-FFF2-40B4-BE49-F238E27FC236}">
                <a16:creationId xmlns:a16="http://schemas.microsoft.com/office/drawing/2014/main" id="{656C9F76-90A7-9611-93CA-3290B63D2BC7}"/>
              </a:ext>
            </a:extLst>
          </p:cNvPr>
          <p:cNvSpPr/>
          <p:nvPr/>
        </p:nvSpPr>
        <p:spPr>
          <a:xfrm>
            <a:off x="2283034" y="-72209"/>
            <a:ext cx="2738972" cy="1018178"/>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CONTEXTE ET PROBLEMATIQUE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 name="Titre 1">
            <a:extLst>
              <a:ext uri="{FF2B5EF4-FFF2-40B4-BE49-F238E27FC236}">
                <a16:creationId xmlns:a16="http://schemas.microsoft.com/office/drawing/2014/main" id="{13796DE7-469B-F927-4EDD-536BAE2671F8}"/>
              </a:ext>
            </a:extLst>
          </p:cNvPr>
          <p:cNvSpPr txBox="1">
            <a:spLocks/>
          </p:cNvSpPr>
          <p:nvPr/>
        </p:nvSpPr>
        <p:spPr>
          <a:xfrm>
            <a:off x="357922" y="1561872"/>
            <a:ext cx="8911687" cy="128089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b="1" dirty="0">
                <a:solidFill>
                  <a:schemeClr val="tx1"/>
                </a:solidFill>
                <a:latin typeface="Times New Roman" panose="02020603050405020304" pitchFamily="18" charset="0"/>
                <a:cs typeface="Times New Roman" panose="02020603050405020304" pitchFamily="18" charset="0"/>
              </a:rPr>
              <a:t>Conclusion</a:t>
            </a:r>
          </a:p>
        </p:txBody>
      </p:sp>
      <p:sp>
        <p:nvSpPr>
          <p:cNvPr id="3" name="Espace réservé du contenu 2">
            <a:extLst>
              <a:ext uri="{FF2B5EF4-FFF2-40B4-BE49-F238E27FC236}">
                <a16:creationId xmlns:a16="http://schemas.microsoft.com/office/drawing/2014/main" id="{413A8FEE-9345-9337-9712-81CDF7BEF5AA}"/>
              </a:ext>
            </a:extLst>
          </p:cNvPr>
          <p:cNvSpPr txBox="1">
            <a:spLocks/>
          </p:cNvSpPr>
          <p:nvPr/>
        </p:nvSpPr>
        <p:spPr>
          <a:xfrm>
            <a:off x="357922" y="2274526"/>
            <a:ext cx="8911687" cy="3777622"/>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fr-FR" sz="2000" dirty="0">
                <a:latin typeface="Times New Roman" panose="02020603050405020304" pitchFamily="18" charset="0"/>
                <a:cs typeface="Times New Roman" panose="02020603050405020304" pitchFamily="18" charset="0"/>
              </a:rPr>
              <a:t>Ce projet de recherche valide le succès d'une approche hybride innovante, prouvant que l'alliance entre l'économétrie des sondages et la Data Science avancée surpasse le cloisonnement des méthodes traditionnelles. En intégrant la coexistence des pathologies nutritionnelles au Cameroun au sein de l'Indice Composite de l'Échec Anthropométrique </a:t>
            </a:r>
            <a:r>
              <a:rPr lang="fr-FR" sz="2000" b="1" dirty="0">
                <a:latin typeface="Times New Roman" panose="02020603050405020304" pitchFamily="18" charset="0"/>
                <a:cs typeface="Times New Roman" panose="02020603050405020304" pitchFamily="18" charset="0"/>
              </a:rPr>
              <a:t>(ICEA), </a:t>
            </a:r>
            <a:r>
              <a:rPr lang="fr-FR" sz="2000" dirty="0">
                <a:latin typeface="Times New Roman" panose="02020603050405020304" pitchFamily="18" charset="0"/>
                <a:cs typeface="Times New Roman" panose="02020603050405020304" pitchFamily="18" charset="0"/>
              </a:rPr>
              <a:t>notre </a:t>
            </a:r>
            <a:r>
              <a:rPr lang="fr-FR" sz="2000" b="1" dirty="0">
                <a:latin typeface="Times New Roman" panose="02020603050405020304" pitchFamily="18" charset="0"/>
                <a:cs typeface="Times New Roman" panose="02020603050405020304" pitchFamily="18" charset="0"/>
              </a:rPr>
              <a:t>modèle statistique unifié (GLM pondéré) </a:t>
            </a:r>
            <a:r>
              <a:rPr lang="fr-FR" sz="2000" dirty="0">
                <a:latin typeface="Times New Roman" panose="02020603050405020304" pitchFamily="18" charset="0"/>
                <a:cs typeface="Times New Roman" panose="02020603050405020304" pitchFamily="18" charset="0"/>
              </a:rPr>
              <a:t>a franchi avec succès les tests de spécification de </a:t>
            </a:r>
            <a:r>
              <a:rPr lang="fr-FR" sz="2000" b="1" dirty="0" err="1">
                <a:latin typeface="Times New Roman" panose="02020603050405020304" pitchFamily="18" charset="0"/>
                <a:cs typeface="Times New Roman" panose="02020603050405020304" pitchFamily="18" charset="0"/>
              </a:rPr>
              <a:t>Pregibon</a:t>
            </a:r>
            <a:r>
              <a:rPr lang="fr-FR" sz="2000" b="1" dirty="0">
                <a:latin typeface="Times New Roman" panose="02020603050405020304" pitchFamily="18" charset="0"/>
                <a:cs typeface="Times New Roman" panose="02020603050405020304" pitchFamily="18" charset="0"/>
              </a:rPr>
              <a:t> (p = 0,3387) </a:t>
            </a:r>
            <a:r>
              <a:rPr lang="fr-FR" sz="2000" dirty="0">
                <a:latin typeface="Times New Roman" panose="02020603050405020304" pitchFamily="18" charset="0"/>
                <a:cs typeface="Times New Roman" panose="02020603050405020304" pitchFamily="18" charset="0"/>
              </a:rPr>
              <a:t>pour isoler les leviers d'action prioritaires, à savoir le capital d'instruction maternel, le niveau de richesse et les infrastructures WASH. En parallèle, notre intelligence artificielle, portée par le modèle champion </a:t>
            </a:r>
            <a:r>
              <a:rPr lang="fr-FR" sz="2000" b="1" dirty="0" err="1">
                <a:latin typeface="Times New Roman" panose="02020603050405020304" pitchFamily="18" charset="0"/>
                <a:cs typeface="Times New Roman" panose="02020603050405020304" pitchFamily="18" charset="0"/>
              </a:rPr>
              <a:t>CatBoost</a:t>
            </a:r>
            <a:r>
              <a:rPr lang="fr-FR" sz="2000" b="1" dirty="0">
                <a:latin typeface="Times New Roman" panose="02020603050405020304" pitchFamily="18" charset="0"/>
                <a:cs typeface="Times New Roman" panose="02020603050405020304" pitchFamily="18" charset="0"/>
              </a:rPr>
              <a:t> Classifier</a:t>
            </a:r>
            <a:r>
              <a:rPr lang="fr-FR" sz="2000" dirty="0">
                <a:latin typeface="Times New Roman" panose="02020603050405020304" pitchFamily="18" charset="0"/>
                <a:cs typeface="Times New Roman" panose="02020603050405020304" pitchFamily="18" charset="0"/>
              </a:rPr>
              <a:t>, a démontré une capacité de généralisation et une stabilité absolue (ROC AUC de 0,7278 et delta d'inférence de 0,0068) lors de tests de résistance </a:t>
            </a:r>
            <a:r>
              <a:rPr lang="fr-FR" sz="2000" b="1" dirty="0">
                <a:latin typeface="Times New Roman" panose="02020603050405020304" pitchFamily="18" charset="0"/>
                <a:cs typeface="Times New Roman" panose="02020603050405020304" pitchFamily="18" charset="0"/>
              </a:rPr>
              <a:t>(</a:t>
            </a:r>
            <a:r>
              <a:rPr lang="fr-FR" sz="2000" b="1" i="1" dirty="0">
                <a:latin typeface="Times New Roman" panose="02020603050405020304" pitchFamily="18" charset="0"/>
                <a:cs typeface="Times New Roman" panose="02020603050405020304" pitchFamily="18" charset="0"/>
              </a:rPr>
              <a:t>Stress </a:t>
            </a:r>
            <a:r>
              <a:rPr lang="fr-FR" sz="2000" b="1" i="1" dirty="0" err="1">
                <a:latin typeface="Times New Roman" panose="02020603050405020304" pitchFamily="18" charset="0"/>
                <a:cs typeface="Times New Roman" panose="02020603050405020304" pitchFamily="18" charset="0"/>
              </a:rPr>
              <a:t>Testing</a:t>
            </a:r>
            <a:r>
              <a:rPr lang="fr-FR" sz="2000" b="1"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rigoureux sur des grappes de villages v001 entièrement inconnues.</a:t>
            </a:r>
          </a:p>
        </p:txBody>
      </p:sp>
      <p:pic>
        <p:nvPicPr>
          <p:cNvPr id="4" name="Image 10">
            <a:extLst>
              <a:ext uri="{FF2B5EF4-FFF2-40B4-BE49-F238E27FC236}">
                <a16:creationId xmlns:a16="http://schemas.microsoft.com/office/drawing/2014/main" id="{27695BFE-E3E5-436A-686E-92867EB9FE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38364" y="6110189"/>
            <a:ext cx="2010206" cy="787854"/>
          </a:xfrm>
          <a:prstGeom prst="rect">
            <a:avLst/>
          </a:prstGeom>
        </p:spPr>
      </p:pic>
    </p:spTree>
    <p:extLst>
      <p:ext uri="{BB962C8B-B14F-4D97-AF65-F5344CB8AC3E}">
        <p14:creationId xmlns:p14="http://schemas.microsoft.com/office/powerpoint/2010/main" val="19348640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lèche droite à entaille 11"/>
          <p:cNvSpPr/>
          <p:nvPr/>
        </p:nvSpPr>
        <p:spPr>
          <a:xfrm>
            <a:off x="-66466" y="0"/>
            <a:ext cx="2529414" cy="87376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INTRODUCTION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7" name="Flèche droite à entaille 16"/>
          <p:cNvSpPr/>
          <p:nvPr/>
        </p:nvSpPr>
        <p:spPr>
          <a:xfrm>
            <a:off x="4832563" y="-30480"/>
            <a:ext cx="2620428" cy="934720"/>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SOLUTION AU PROBLEME</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8" name="Flèche droite à entaille 17"/>
          <p:cNvSpPr/>
          <p:nvPr/>
        </p:nvSpPr>
        <p:spPr>
          <a:xfrm>
            <a:off x="7227356" y="-72209"/>
            <a:ext cx="2942804" cy="1008018"/>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CONCEPTION ET REALISATION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19" name="Flèche droite à entaille 18"/>
          <p:cNvSpPr/>
          <p:nvPr/>
        </p:nvSpPr>
        <p:spPr>
          <a:xfrm>
            <a:off x="10002520" y="-103778"/>
            <a:ext cx="2291710" cy="1008018"/>
          </a:xfrm>
          <a:prstGeom prst="notchedRightArrow">
            <a:avLst/>
          </a:prstGeom>
          <a:solidFill>
            <a:srgbClr val="FF0000"/>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CONCLUSION</a:t>
            </a:r>
            <a:endParaRPr lang="fr-CM" b="1" dirty="0">
              <a:solidFill>
                <a:schemeClr val="tx1"/>
              </a:solidFill>
              <a:latin typeface="Times New Roman" panose="02020603050405020304" pitchFamily="18" charset="0"/>
              <a:cs typeface="Times New Roman" panose="02020603050405020304" pitchFamily="18" charset="0"/>
            </a:endParaRPr>
          </a:p>
        </p:txBody>
      </p:sp>
      <p:sp>
        <p:nvSpPr>
          <p:cNvPr id="20" name="Flèche droite à entaille 19"/>
          <p:cNvSpPr/>
          <p:nvPr/>
        </p:nvSpPr>
        <p:spPr>
          <a:xfrm>
            <a:off x="2283034" y="-72209"/>
            <a:ext cx="2738972" cy="1018178"/>
          </a:xfrm>
          <a:prstGeom prst="notchedRightArrow">
            <a:avLst/>
          </a:prstGeom>
          <a:solidFill>
            <a:schemeClr val="accent2"/>
          </a:solidFill>
          <a:ln>
            <a:noFill/>
          </a:ln>
          <a:effectLst>
            <a:reflection blurRad="6350" stA="50000" endA="300" endPos="55000" dir="5400000" sy="-100000" algn="bl" rotWithShape="0"/>
          </a:effectLst>
          <a:scene3d>
            <a:camera prst="orthographicFront">
              <a:rot lat="0" lon="0" rev="0"/>
            </a:camera>
            <a:lightRig rig="chilly" dir="t">
              <a:rot lat="0" lon="0" rev="18480000"/>
            </a:lightRig>
          </a:scene3d>
          <a:sp3d prstMaterial="clear">
            <a:bevelT h="63500"/>
          </a:sp3d>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CONTEXTE ET PROBLEMATIQUE</a:t>
            </a:r>
            <a:endParaRPr lang="fr-CM" b="1" dirty="0">
              <a:solidFill>
                <a:schemeClr val="tx1"/>
              </a:solidFill>
              <a:latin typeface="Times New Roman" panose="02020603050405020304" pitchFamily="18" charset="0"/>
              <a:cs typeface="Times New Roman" panose="02020603050405020304" pitchFamily="18" charset="0"/>
            </a:endParaRPr>
          </a:p>
        </p:txBody>
      </p:sp>
      <p:pic>
        <p:nvPicPr>
          <p:cNvPr id="8" name="Image 6"/>
          <p:cNvPicPr>
            <a:picLocks noChangeAspect="1"/>
          </p:cNvPicPr>
          <p:nvPr/>
        </p:nvPicPr>
        <p:blipFill>
          <a:blip r:embed="rId2"/>
          <a:stretch>
            <a:fillRect/>
          </a:stretch>
        </p:blipFill>
        <p:spPr>
          <a:xfrm rot="19302914">
            <a:off x="79946" y="3505503"/>
            <a:ext cx="2954958" cy="2594533"/>
          </a:xfrm>
          <a:prstGeom prst="rect">
            <a:avLst/>
          </a:prstGeom>
          <a:noFill/>
          <a:ln cap="flat">
            <a:noFill/>
          </a:ln>
        </p:spPr>
      </p:pic>
      <p:sp>
        <p:nvSpPr>
          <p:cNvPr id="10" name="ZoneTexte 7"/>
          <p:cNvSpPr txBox="1"/>
          <p:nvPr/>
        </p:nvSpPr>
        <p:spPr>
          <a:xfrm>
            <a:off x="1784202" y="2274840"/>
            <a:ext cx="8623596" cy="2308320"/>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7000" b="0" i="0" u="none" strike="noStrike" kern="1200" cap="none" spc="0" baseline="0" dirty="0">
                <a:solidFill>
                  <a:srgbClr val="000000"/>
                </a:solidFill>
                <a:uFillTx/>
                <a:latin typeface="Edwardian Script ITC" pitchFamily="66"/>
              </a:rPr>
              <a:t>Merci </a:t>
            </a:r>
            <a:r>
              <a:rPr lang="fr-FR" sz="7000" dirty="0">
                <a:solidFill>
                  <a:srgbClr val="000000"/>
                </a:solidFill>
                <a:latin typeface="Edwardian Script ITC" pitchFamily="66"/>
              </a:rPr>
              <a:t>pour </a:t>
            </a:r>
            <a:r>
              <a:rPr lang="fr-FR" sz="7000" b="0" i="0" u="none" strike="noStrike" kern="1200" cap="none" spc="0" baseline="0" dirty="0">
                <a:solidFill>
                  <a:srgbClr val="000000"/>
                </a:solidFill>
                <a:uFillTx/>
                <a:latin typeface="Edwardian Script ITC" pitchFamily="66"/>
              </a:rPr>
              <a:t>votre Aimable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7000" b="0" i="0" u="none" strike="noStrike" kern="1200" cap="none" spc="0" baseline="0" dirty="0">
                <a:solidFill>
                  <a:srgbClr val="000000"/>
                </a:solidFill>
                <a:uFillTx/>
                <a:latin typeface="Edwardian Script ITC" pitchFamily="66"/>
              </a:rPr>
              <a:t>Attention</a:t>
            </a:r>
          </a:p>
        </p:txBody>
      </p:sp>
      <p:pic>
        <p:nvPicPr>
          <p:cNvPr id="11" name="Image 8"/>
          <p:cNvPicPr>
            <a:picLocks noChangeAspect="1"/>
          </p:cNvPicPr>
          <p:nvPr/>
        </p:nvPicPr>
        <p:blipFill>
          <a:blip r:embed="rId3"/>
          <a:stretch>
            <a:fillRect/>
          </a:stretch>
        </p:blipFill>
        <p:spPr>
          <a:xfrm>
            <a:off x="9863110" y="677090"/>
            <a:ext cx="1904996" cy="2095503"/>
          </a:xfrm>
          <a:prstGeom prst="rect">
            <a:avLst/>
          </a:prstGeom>
          <a:noFill/>
          <a:ln cap="flat">
            <a:noFill/>
          </a:ln>
        </p:spPr>
      </p:pic>
      <p:pic>
        <p:nvPicPr>
          <p:cNvPr id="13" name="Image 10"/>
          <p:cNvPicPr>
            <a:picLocks noChangeAspect="1"/>
          </p:cNvPicPr>
          <p:nvPr/>
        </p:nvPicPr>
        <p:blipFill>
          <a:blip r:embed="rId3"/>
          <a:stretch>
            <a:fillRect/>
          </a:stretch>
        </p:blipFill>
        <p:spPr>
          <a:xfrm>
            <a:off x="9894283" y="4640947"/>
            <a:ext cx="1904996" cy="2095503"/>
          </a:xfrm>
          <a:prstGeom prst="rect">
            <a:avLst/>
          </a:prstGeom>
          <a:noFill/>
          <a:ln cap="flat">
            <a:noFill/>
          </a:ln>
        </p:spPr>
      </p:pic>
      <p:pic>
        <p:nvPicPr>
          <p:cNvPr id="3" name="Image 2">
            <a:extLst>
              <a:ext uri="{FF2B5EF4-FFF2-40B4-BE49-F238E27FC236}">
                <a16:creationId xmlns:a16="http://schemas.microsoft.com/office/drawing/2014/main" id="{06992914-0D0C-07EF-D730-EC79AFD495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1570" y="5399315"/>
            <a:ext cx="4079491" cy="1598863"/>
          </a:xfrm>
          <a:prstGeom prst="rect">
            <a:avLst/>
          </a:prstGeom>
        </p:spPr>
      </p:pic>
    </p:spTree>
    <p:extLst>
      <p:ext uri="{BB962C8B-B14F-4D97-AF65-F5344CB8AC3E}">
        <p14:creationId xmlns:p14="http://schemas.microsoft.com/office/powerpoint/2010/main" val="42365871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0"/>
                                        </p:tgtEl>
                                        <p:attrNameLst>
                                          <p:attrName>ppt_y</p:attrName>
                                        </p:attrNameLst>
                                      </p:cBhvr>
                                      <p:tavLst>
                                        <p:tav tm="0">
                                          <p:val>
                                            <p:strVal val="#ppt_y"/>
                                          </p:val>
                                        </p:tav>
                                        <p:tav tm="100000">
                                          <p:val>
                                            <p:strVal val="#ppt_y"/>
                                          </p:val>
                                        </p:tav>
                                      </p:tavLst>
                                    </p:anim>
                                    <p:anim calcmode="lin" valueType="num">
                                      <p:cBhvr>
                                        <p:cTn id="9" dur="5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Ronds dans l’eau</Template>
  <TotalTime>10910</TotalTime>
  <Words>2536</Words>
  <Application>Microsoft Office PowerPoint</Application>
  <PresentationFormat>Widescreen</PresentationFormat>
  <Paragraphs>147</Paragraphs>
  <Slides>20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Baskerville Old Face</vt:lpstr>
      <vt:lpstr>Calibri</vt:lpstr>
      <vt:lpstr>Century Gothic</vt:lpstr>
      <vt:lpstr>Edwardian Script ITC</vt:lpstr>
      <vt:lpstr>Times New Roman</vt:lpstr>
      <vt:lpstr>Trebuchet MS</vt:lpstr>
      <vt:lpstr>Wingdings 3</vt:lpstr>
      <vt:lpstr>Facette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CheguemFlorette</dc:creator>
  <cp:lastModifiedBy>Yeiayel NGOUMTSOP TEUZEM</cp:lastModifiedBy>
  <cp:revision>174</cp:revision>
  <dcterms:created xsi:type="dcterms:W3CDTF">2022-03-29T08:39:56Z</dcterms:created>
  <dcterms:modified xsi:type="dcterms:W3CDTF">2026-06-12T23:12:33Z</dcterms:modified>
</cp:coreProperties>
</file>